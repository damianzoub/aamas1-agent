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Helvetica World" charset="1" panose="020B0500040000020004"/>
      <p:regular r:id="rId16"/>
    </p:embeddedFont>
    <p:embeddedFont>
      <p:font typeface="Georgia Pro Condensed" charset="1" panose="02040506050405020303"/>
      <p:regular r:id="rId17"/>
    </p:embeddedFont>
    <p:embeddedFont>
      <p:font typeface="Helvetica World Bold" charset="1" panose="020B0800040000020004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jpe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-12700"/>
            <a:ext cx="11201400" cy="10299700"/>
            <a:chOff x="0" y="0"/>
            <a:chExt cx="963348" cy="88579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63348" cy="885799"/>
            </a:xfrm>
            <a:custGeom>
              <a:avLst/>
              <a:gdLst/>
              <a:ahLst/>
              <a:cxnLst/>
              <a:rect r="r" b="b" t="t" l="l"/>
              <a:pathLst>
                <a:path h="885799" w="963348">
                  <a:moveTo>
                    <a:pt x="0" y="0"/>
                  </a:moveTo>
                  <a:lnTo>
                    <a:pt x="963348" y="0"/>
                  </a:lnTo>
                  <a:lnTo>
                    <a:pt x="963348" y="885799"/>
                  </a:lnTo>
                  <a:lnTo>
                    <a:pt x="0" y="885799"/>
                  </a:lnTo>
                  <a:close/>
                </a:path>
              </a:pathLst>
            </a:custGeom>
            <a:solidFill>
              <a:srgbClr val="ABD0E2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11868150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666750" y="7763510"/>
            <a:ext cx="6886575" cy="1856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940"/>
              </a:lnSpc>
            </a:pPr>
            <a:r>
              <a:rPr lang="en-US" sz="3800" spc="-57" strike="noStrike" u="none">
                <a:solidFill>
                  <a:srgbClr val="2F5972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Presented by Damianos Zoumpos, Giorgos Azam, Αnna-Maria Naidenova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75380" y="975068"/>
            <a:ext cx="9754495" cy="57900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4956"/>
              </a:lnSpc>
            </a:pPr>
            <a:r>
              <a:rPr lang="en-US" sz="14956" spc="-523" strike="noStrike" u="none">
                <a:solidFill>
                  <a:srgbClr val="2F5972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Jason Agent in Grid-World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-3117037">
            <a:off x="8947742" y="7656091"/>
            <a:ext cx="2112604" cy="1859092"/>
          </a:xfrm>
          <a:custGeom>
            <a:avLst/>
            <a:gdLst/>
            <a:ahLst/>
            <a:cxnLst/>
            <a:rect r="r" b="b" t="t" l="l"/>
            <a:pathLst>
              <a:path h="1859092" w="2112604">
                <a:moveTo>
                  <a:pt x="0" y="0"/>
                </a:moveTo>
                <a:lnTo>
                  <a:pt x="2112604" y="0"/>
                </a:lnTo>
                <a:lnTo>
                  <a:pt x="2112604" y="1859091"/>
                </a:lnTo>
                <a:lnTo>
                  <a:pt x="0" y="185909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ABD0E2"/>
            </a:solidFill>
            <a:ln cap="rnd">
              <a:noFill/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4465383" cy="24152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-3117037">
            <a:off x="15848658" y="7285971"/>
            <a:ext cx="2112604" cy="1859092"/>
          </a:xfrm>
          <a:custGeom>
            <a:avLst/>
            <a:gdLst/>
            <a:ahLst/>
            <a:cxnLst/>
            <a:rect r="r" b="b" t="t" l="l"/>
            <a:pathLst>
              <a:path h="1859092" w="2112604">
                <a:moveTo>
                  <a:pt x="0" y="0"/>
                </a:moveTo>
                <a:lnTo>
                  <a:pt x="2112604" y="0"/>
                </a:lnTo>
                <a:lnTo>
                  <a:pt x="2112604" y="1859092"/>
                </a:lnTo>
                <a:lnTo>
                  <a:pt x="0" y="18590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741461" y="2599078"/>
            <a:ext cx="6879789" cy="4600279"/>
          </a:xfrm>
          <a:custGeom>
            <a:avLst/>
            <a:gdLst/>
            <a:ahLst/>
            <a:cxnLst/>
            <a:rect r="r" b="b" t="t" l="l"/>
            <a:pathLst>
              <a:path h="4600279" w="6879789">
                <a:moveTo>
                  <a:pt x="0" y="0"/>
                </a:moveTo>
                <a:lnTo>
                  <a:pt x="6879789" y="0"/>
                </a:lnTo>
                <a:lnTo>
                  <a:pt x="6879789" y="4600279"/>
                </a:lnTo>
                <a:lnTo>
                  <a:pt x="0" y="46002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1250" r="-2872" b="-125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028700" y="1327770"/>
            <a:ext cx="12238968" cy="6863292"/>
            <a:chOff x="0" y="0"/>
            <a:chExt cx="16318624" cy="9151057"/>
          </a:xfrm>
        </p:grpSpPr>
        <p:sp>
          <p:nvSpPr>
            <p:cNvPr name="TextBox 8" id="8"/>
            <p:cNvSpPr txBox="true"/>
            <p:nvPr/>
          </p:nvSpPr>
          <p:spPr>
            <a:xfrm rot="0">
              <a:off x="0" y="-85725"/>
              <a:ext cx="16318624" cy="16147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9833"/>
                </a:lnSpc>
              </a:pPr>
              <a:r>
                <a:rPr lang="en-US" sz="7564" spc="-226">
                  <a:solidFill>
                    <a:srgbClr val="2F5972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Επισκόπηση</a:t>
              </a:r>
              <a:r>
                <a:rPr lang="en-US" sz="7564" spc="-226">
                  <a:solidFill>
                    <a:srgbClr val="2F5972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 του Περιβάλλοντος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067933"/>
              <a:ext cx="16318624" cy="531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36"/>
                </a:lnSpc>
                <a:spcBef>
                  <a:spcPct val="0"/>
                </a:spcBef>
              </a:pPr>
              <a:r>
                <a:rPr lang="en-US" b="true" sz="2363" spc="-35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Η αρχική θέση του Πράκτορα </a:t>
              </a:r>
              <a:r>
                <a:rPr lang="en-US" b="true" sz="2363" spc="-35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(1,1)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2874758"/>
              <a:ext cx="12775688" cy="62762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309"/>
                </a:lnSpc>
              </a:pPr>
              <a:r>
                <a:rPr lang="en-US" sz="2363" spc="-35">
                  <a:solidFill>
                    <a:srgbClr val="2F5972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Το περιβάλλον της εργασίας είναι ένα </a:t>
              </a:r>
              <a:r>
                <a:rPr lang="en-US" sz="2363" spc="-35" b="true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2D Grid 5*5</a:t>
              </a:r>
              <a:r>
                <a:rPr lang="en-US" sz="2363" spc="-35">
                  <a:solidFill>
                    <a:srgbClr val="2F5972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, στο οποίο ο πράκτορας καλείται να εκτελέσει μια σειρά από ενέργειες με στόχο να </a:t>
              </a:r>
              <a:r>
                <a:rPr lang="en-US" sz="2363" spc="-35" b="true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βάψει το Τραπέζι (Τ) και την Καρέκλα (Ch) και να ανοίξει την Πόρτα (D). </a:t>
              </a:r>
              <a:r>
                <a:rPr lang="en-US" sz="2363" spc="-35">
                  <a:solidFill>
                    <a:srgbClr val="2F5972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Η αρχική θέση του πράκτορα είναι πάντα το (1,1). Σε κάθε επεισόδιο οι θέσεις των D;T,Ch αλλάζουν αλλά παραμένουν σταθερές κατά τη διάρκειά του. </a:t>
              </a:r>
            </a:p>
            <a:p>
              <a:pPr algn="l">
                <a:lnSpc>
                  <a:spcPts val="3309"/>
                </a:lnSpc>
              </a:pPr>
              <a:r>
                <a:rPr lang="en-US" sz="2363" spc="-35">
                  <a:solidFill>
                    <a:srgbClr val="2F5972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Οι τοίχοι βρίσκονται:</a:t>
              </a:r>
            </a:p>
            <a:p>
              <a:pPr algn="l" marL="510331" indent="-255165" lvl="1">
                <a:lnSpc>
                  <a:spcPts val="3309"/>
                </a:lnSpc>
                <a:buFont typeface="Arial"/>
                <a:buChar char="•"/>
              </a:pPr>
              <a:r>
                <a:rPr lang="en-US" sz="2363" spc="-35">
                  <a:solidFill>
                    <a:srgbClr val="2F5972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(1,2)</a:t>
              </a:r>
            </a:p>
            <a:p>
              <a:pPr algn="l" marL="510331" indent="-255165" lvl="1">
                <a:lnSpc>
                  <a:spcPts val="3309"/>
                </a:lnSpc>
                <a:buFont typeface="Arial"/>
                <a:buChar char="•"/>
              </a:pPr>
              <a:r>
                <a:rPr lang="en-US" sz="2363" spc="-35">
                  <a:solidFill>
                    <a:srgbClr val="2F5972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(2,2)</a:t>
              </a:r>
            </a:p>
            <a:p>
              <a:pPr algn="l" marL="510331" indent="-255165" lvl="1">
                <a:lnSpc>
                  <a:spcPts val="3309"/>
                </a:lnSpc>
                <a:buFont typeface="Arial"/>
                <a:buChar char="•"/>
              </a:pPr>
              <a:r>
                <a:rPr lang="en-US" sz="2363" spc="-35">
                  <a:solidFill>
                    <a:srgbClr val="2F5972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(4,4)</a:t>
              </a:r>
            </a:p>
            <a:p>
              <a:pPr algn="l" marL="510331" indent="-255165" lvl="1">
                <a:lnSpc>
                  <a:spcPts val="3309"/>
                </a:lnSpc>
                <a:buFont typeface="Arial"/>
                <a:buChar char="•"/>
              </a:pPr>
              <a:r>
                <a:rPr lang="en-US" sz="2363" spc="-35">
                  <a:solidFill>
                    <a:srgbClr val="2F5972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(4,5)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ABD0E2"/>
            </a:solidFill>
            <a:ln cap="rnd">
              <a:noFill/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4465383" cy="24152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800225" y="1562100"/>
            <a:ext cx="13972511" cy="4957763"/>
            <a:chOff x="0" y="0"/>
            <a:chExt cx="18630015" cy="6610350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-85725"/>
              <a:ext cx="18630015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2F5972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Κύριοι Στόχοι</a:t>
              </a:r>
              <a:r>
                <a:rPr lang="en-US" sz="8000" spc="-240">
                  <a:solidFill>
                    <a:srgbClr val="2F5972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 του Πράκτορα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2187687"/>
              <a:ext cx="18630015" cy="5619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Οι βασικοί στόχοι του πράκτορα Jason στο περιβάλλον του grid-world είναι: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3053291"/>
              <a:ext cx="14585252" cy="355705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539748" indent="-269874" lvl="1">
                <a:lnSpc>
                  <a:spcPts val="3499"/>
                </a:lnSpc>
                <a:buFont typeface="Arial"/>
                <a:buChar char="•"/>
              </a:pPr>
              <a:r>
                <a:rPr lang="en-US" b="true" sz="2499" spc="-37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Να βάψει τα αντικείμενα-στόχους: </a:t>
              </a:r>
              <a:r>
                <a:rPr lang="en-US" sz="2499" spc="-37">
                  <a:solidFill>
                    <a:srgbClr val="2F5972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το Τραπέζι (Τ) και την Καρέκλα (Ch)</a:t>
              </a:r>
            </a:p>
            <a:p>
              <a:pPr algn="l" marL="539748" indent="-269874" lvl="1">
                <a:lnSpc>
                  <a:spcPts val="3499"/>
                </a:lnSpc>
                <a:buFont typeface="Arial"/>
                <a:buChar char="•"/>
              </a:pPr>
              <a:r>
                <a:rPr lang="en-US" b="true" sz="2499" spc="-37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Να ανοίξει επιτυχώς την Πόρτα (D),</a:t>
              </a:r>
              <a:r>
                <a:rPr lang="en-US" sz="2499" spc="-37">
                  <a:solidFill>
                    <a:srgbClr val="2F5972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 ολοκληρώνοντας έτσι το επεισόδιο</a:t>
              </a:r>
            </a:p>
            <a:p>
              <a:pPr algn="l">
                <a:lnSpc>
                  <a:spcPts val="3499"/>
                </a:lnSpc>
              </a:pPr>
            </a:p>
            <a:p>
              <a:pPr algn="l">
                <a:lnSpc>
                  <a:spcPts val="3499"/>
                </a:lnSpc>
              </a:pPr>
              <a:r>
                <a:rPr lang="en-US" sz="2499" spc="-37">
                  <a:solidFill>
                    <a:srgbClr val="2F5972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Για την επίτευξης αυτών των στόχων απαιτείται η σωστή συλλογή και χρήση τνω αναγκαίων αντικειμένων, καθώς και αποτελεσματικός σχεδιασμός κινήσεων και ενεργειών του πράκτορα για να θεωρείται αποδοτικός </a:t>
              </a: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-3117037">
            <a:off x="16099474" y="7952721"/>
            <a:ext cx="2112604" cy="1859092"/>
          </a:xfrm>
          <a:custGeom>
            <a:avLst/>
            <a:gdLst/>
            <a:ahLst/>
            <a:cxnLst/>
            <a:rect r="r" b="b" t="t" l="l"/>
            <a:pathLst>
              <a:path h="1859092" w="2112604">
                <a:moveTo>
                  <a:pt x="0" y="0"/>
                </a:moveTo>
                <a:lnTo>
                  <a:pt x="2112605" y="0"/>
                </a:lnTo>
                <a:lnTo>
                  <a:pt x="2112605" y="1859092"/>
                </a:lnTo>
                <a:lnTo>
                  <a:pt x="0" y="18590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ABD0E2"/>
            </a:solidFill>
            <a:ln cap="rnd">
              <a:noFill/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4465383" cy="24152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1455361"/>
            <a:ext cx="14382750" cy="2062247"/>
            <a:chOff x="0" y="0"/>
            <a:chExt cx="19177000" cy="2749662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-85725"/>
              <a:ext cx="191770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2F5972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Ενέργειες Πράκτορα(</a:t>
              </a:r>
              <a:r>
                <a:rPr lang="en-US" sz="8000" spc="-240">
                  <a:solidFill>
                    <a:srgbClr val="2F5972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Agent Actions)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2187687"/>
              <a:ext cx="19177000" cy="5619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Core Functions of the Agent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028700" y="4148213"/>
            <a:ext cx="4657483" cy="3256627"/>
            <a:chOff x="0" y="0"/>
            <a:chExt cx="6209977" cy="4342170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-9525"/>
              <a:ext cx="6209977" cy="59299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2"/>
                </a:lnSpc>
                <a:spcBef>
                  <a:spcPct val="0"/>
                </a:spcBef>
              </a:pPr>
              <a:r>
                <a:rPr lang="en-US" b="true" sz="2702" spc="-40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Κατηγορίες Μετακίνησης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1167364"/>
              <a:ext cx="6209977" cy="31748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026"/>
                </a:lnSpc>
              </a:pPr>
              <a:r>
                <a:rPr lang="en-US" sz="2162" spc="-32">
                  <a:solidFill>
                    <a:srgbClr val="2F5972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Ο πράκτορας μπορεί να μετακινηθεί στο πλέγμα εκτελώντας:</a:t>
              </a:r>
            </a:p>
            <a:p>
              <a:pPr algn="l" marL="466776" indent="-233388" lvl="1">
                <a:lnSpc>
                  <a:spcPts val="3026"/>
                </a:lnSpc>
                <a:buFont typeface="Arial"/>
                <a:buChar char="•"/>
              </a:pPr>
              <a:r>
                <a:rPr lang="en-US" sz="2162" spc="-32">
                  <a:solidFill>
                    <a:srgbClr val="2F5972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Μετακίνηση </a:t>
              </a:r>
              <a:r>
                <a:rPr lang="en-US" b="true" sz="2162" spc="-32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πάνω</a:t>
              </a:r>
            </a:p>
            <a:p>
              <a:pPr algn="l" marL="466776" indent="-233388" lvl="1">
                <a:lnSpc>
                  <a:spcPts val="3026"/>
                </a:lnSpc>
                <a:buFont typeface="Arial"/>
                <a:buChar char="•"/>
              </a:pPr>
              <a:r>
                <a:rPr lang="en-US" sz="2162" spc="-32">
                  <a:solidFill>
                    <a:srgbClr val="2F5972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Μετακίνηση </a:t>
              </a:r>
              <a:r>
                <a:rPr lang="en-US" b="true" sz="2162" spc="-32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κάτω</a:t>
              </a:r>
            </a:p>
            <a:p>
              <a:pPr algn="l" marL="466776" indent="-233388" lvl="1">
                <a:lnSpc>
                  <a:spcPts val="3026"/>
                </a:lnSpc>
                <a:buFont typeface="Arial"/>
                <a:buChar char="•"/>
              </a:pPr>
              <a:r>
                <a:rPr lang="en-US" sz="2162" spc="-32">
                  <a:solidFill>
                    <a:srgbClr val="2F5972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Μετακίνηση </a:t>
              </a:r>
              <a:r>
                <a:rPr lang="en-US" b="true" sz="2162" spc="-32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δεξιά</a:t>
              </a:r>
            </a:p>
            <a:p>
              <a:pPr algn="l" marL="466776" indent="-233388" lvl="1">
                <a:lnSpc>
                  <a:spcPts val="3026"/>
                </a:lnSpc>
                <a:buFont typeface="Arial"/>
                <a:buChar char="•"/>
              </a:pPr>
              <a:r>
                <a:rPr lang="en-US" sz="2162" spc="-32">
                  <a:solidFill>
                    <a:srgbClr val="2F5972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Μετακίνηση </a:t>
              </a:r>
              <a:r>
                <a:rPr lang="en-US" b="true" sz="2162" spc="-32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αριστερά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534742" y="4148213"/>
            <a:ext cx="4010025" cy="3721100"/>
            <a:chOff x="0" y="0"/>
            <a:chExt cx="5346700" cy="4961467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0"/>
              <a:ext cx="5346700" cy="107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Κατηγορία Συλλογής Αντικειμένων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1606550"/>
              <a:ext cx="5346700" cy="33549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spc="-30">
                  <a:solidFill>
                    <a:srgbClr val="2F5972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Ενέργειες που σχετίζονται με την αλληλεπίδραση με αντικείμενα στο περιβάλλον:</a:t>
              </a:r>
            </a:p>
            <a:p>
              <a:pPr algn="l" marL="431801" indent="-215900" lvl="1">
                <a:lnSpc>
                  <a:spcPts val="2800"/>
                </a:lnSpc>
                <a:buFont typeface="Arial"/>
                <a:buChar char="•"/>
              </a:pPr>
              <a:r>
                <a:rPr lang="en-US" b="true" sz="2000" spc="-30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Αρπαγή αντικειμένου (pick)</a:t>
              </a:r>
            </a:p>
            <a:p>
              <a:pPr algn="l" marL="431801" indent="-215900" lvl="1">
                <a:lnSpc>
                  <a:spcPts val="2800"/>
                </a:lnSpc>
                <a:buFont typeface="Arial"/>
                <a:buChar char="•"/>
              </a:pPr>
              <a:r>
                <a:rPr lang="en-US" b="true" sz="2000" spc="-30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Aπόθεση αντικειμένου (drop) </a:t>
              </a:r>
            </a:p>
            <a:p>
              <a:pPr algn="l">
                <a:lnSpc>
                  <a:spcPts val="2800"/>
                </a:lnSpc>
              </a:pPr>
              <a:r>
                <a:rPr lang="en-US" sz="2000" spc="-30">
                  <a:solidFill>
                    <a:srgbClr val="2F5972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Ο πράκτορας μπορεί να μεταφέρει μέχρι 3 αντικείμενα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9773676" y="4148213"/>
            <a:ext cx="4010025" cy="3021012"/>
            <a:chOff x="0" y="0"/>
            <a:chExt cx="5346700" cy="4028017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0"/>
              <a:ext cx="5346700" cy="5397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Κατηγορία Βαψίματος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1066800"/>
              <a:ext cx="5346700" cy="29612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spc="-30">
                  <a:solidFill>
                    <a:srgbClr val="2F5972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Ενέργειες που αφορούν την ολοκλήρωση των στόχων:</a:t>
              </a:r>
            </a:p>
            <a:p>
              <a:pPr algn="l" marL="431801" indent="-215900" lvl="1">
                <a:lnSpc>
                  <a:spcPts val="2800"/>
                </a:lnSpc>
                <a:buFont typeface="Arial"/>
                <a:buChar char="•"/>
              </a:pPr>
              <a:r>
                <a:rPr lang="en-US" b="true" sz="2000" spc="-30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Βάψιμο του Τ (Τραπέζι)</a:t>
              </a:r>
            </a:p>
            <a:p>
              <a:pPr algn="l" marL="431801" indent="-215900" lvl="1">
                <a:lnSpc>
                  <a:spcPts val="2800"/>
                </a:lnSpc>
                <a:buFont typeface="Arial"/>
                <a:buChar char="•"/>
              </a:pPr>
              <a:r>
                <a:rPr lang="en-US" b="true" sz="2000" spc="-30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Βάψιμο του Ch (Καρέκλα)</a:t>
              </a:r>
            </a:p>
            <a:p>
              <a:pPr algn="l">
                <a:lnSpc>
                  <a:spcPts val="2800"/>
                </a:lnSpc>
              </a:pPr>
              <a:r>
                <a:rPr lang="en-US" b="true" sz="2000" spc="-30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Προυπόθεση: </a:t>
              </a:r>
              <a:r>
                <a:rPr lang="en-US" sz="2000" spc="-30">
                  <a:solidFill>
                    <a:srgbClr val="2F5972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να κατέχει ο πράκτορας </a:t>
              </a:r>
              <a:r>
                <a:rPr lang="en-US" b="true" sz="2000" spc="-30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Βrush (B) &amp; Color (Cl)</a:t>
              </a: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-3117037">
            <a:off x="16099474" y="7952721"/>
            <a:ext cx="2112604" cy="1859092"/>
          </a:xfrm>
          <a:custGeom>
            <a:avLst/>
            <a:gdLst/>
            <a:ahLst/>
            <a:cxnLst/>
            <a:rect r="r" b="b" t="t" l="l"/>
            <a:pathLst>
              <a:path h="1859092" w="2112604">
                <a:moveTo>
                  <a:pt x="0" y="0"/>
                </a:moveTo>
                <a:lnTo>
                  <a:pt x="2112605" y="0"/>
                </a:lnTo>
                <a:lnTo>
                  <a:pt x="2112605" y="1859092"/>
                </a:lnTo>
                <a:lnTo>
                  <a:pt x="0" y="18590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18" id="18"/>
          <p:cNvGrpSpPr/>
          <p:nvPr/>
        </p:nvGrpSpPr>
        <p:grpSpPr>
          <a:xfrm rot="0">
            <a:off x="13783701" y="4148213"/>
            <a:ext cx="3775695" cy="2311400"/>
            <a:chOff x="0" y="0"/>
            <a:chExt cx="5034260" cy="3081867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5034260" cy="107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Κατηγορία Ενεργειών Πόρτας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606550"/>
              <a:ext cx="5034260" cy="14753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spc="-30">
                  <a:solidFill>
                    <a:srgbClr val="2F5972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Χειρισμός της Πόρτας (D)</a:t>
              </a:r>
            </a:p>
            <a:p>
              <a:pPr algn="l" marL="431801" indent="-215900" lvl="1">
                <a:lnSpc>
                  <a:spcPts val="2800"/>
                </a:lnSpc>
                <a:buFont typeface="Arial"/>
                <a:buChar char="•"/>
              </a:pPr>
              <a:r>
                <a:rPr lang="en-US" b="true" sz="2000" spc="-30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Άνοιγμα Πόρτας</a:t>
              </a:r>
            </a:p>
            <a:p>
              <a:pPr algn="l">
                <a:lnSpc>
                  <a:spcPts val="2800"/>
                </a:lnSpc>
              </a:pPr>
              <a:r>
                <a:rPr lang="en-US" b="true" sz="2000" spc="-30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Απαιτεί:  Κey (K) &amp; Code (Cd)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</a:pPr>
            <a:r>
              <a:rPr lang="en-US" sz="8000">
                <a:solidFill>
                  <a:srgbClr val="2F5972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Action Constraints Overview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2105025" y="4259580"/>
            <a:ext cx="6886575" cy="1370648"/>
            <a:chOff x="0" y="0"/>
            <a:chExt cx="9182100" cy="1827530"/>
          </a:xfrm>
        </p:grpSpPr>
        <p:sp>
          <p:nvSpPr>
            <p:cNvPr name="TextBox 4" id="4"/>
            <p:cNvSpPr txBox="true"/>
            <p:nvPr/>
          </p:nvSpPr>
          <p:spPr>
            <a:xfrm rot="0">
              <a:off x="0" y="-9525"/>
              <a:ext cx="9182100" cy="6699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00"/>
                </a:lnSpc>
                <a:spcBef>
                  <a:spcPct val="0"/>
                </a:spcBef>
              </a:pPr>
              <a:r>
                <a:rPr lang="en-US" b="true" sz="3000" spc="-44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Brush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0" y="1295189"/>
              <a:ext cx="9182100" cy="53234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2F5972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Requires color for successful painting actions.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734675" y="6944836"/>
            <a:ext cx="6886575" cy="1370648"/>
            <a:chOff x="0" y="0"/>
            <a:chExt cx="9182100" cy="1827530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9525"/>
              <a:ext cx="9182100" cy="6699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00"/>
                </a:lnSpc>
                <a:spcBef>
                  <a:spcPct val="0"/>
                </a:spcBef>
              </a:pPr>
              <a:r>
                <a:rPr lang="en-US" b="true" sz="3000" spc="-44" strike="noStrike" u="none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Color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1295189"/>
              <a:ext cx="9182100" cy="53234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2F5972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Needed in conjunction with the brush for painting.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2105025" y="6937534"/>
            <a:ext cx="6886575" cy="1416844"/>
            <a:chOff x="0" y="0"/>
            <a:chExt cx="9182100" cy="1889125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-9525"/>
              <a:ext cx="9182100" cy="6699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00"/>
                </a:lnSpc>
                <a:spcBef>
                  <a:spcPct val="0"/>
                </a:spcBef>
              </a:pPr>
              <a:r>
                <a:rPr lang="en-US" b="true" sz="3000" spc="-44" strike="noStrike" u="none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Key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356783"/>
              <a:ext cx="9182100" cy="53234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2F5972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Necessary for opening doors within the grid.</a:t>
              </a: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2F5972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2F5972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296400" y="693610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2F5972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66750" y="693039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2F5972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0734675" y="4258786"/>
            <a:ext cx="6886575" cy="1370648"/>
            <a:chOff x="0" y="0"/>
            <a:chExt cx="9182100" cy="1827530"/>
          </a:xfrm>
        </p:grpSpPr>
        <p:sp>
          <p:nvSpPr>
            <p:cNvPr name="TextBox 17" id="17"/>
            <p:cNvSpPr txBox="true"/>
            <p:nvPr/>
          </p:nvSpPr>
          <p:spPr>
            <a:xfrm rot="0">
              <a:off x="0" y="-9525"/>
              <a:ext cx="9182100" cy="6699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00"/>
                </a:lnSpc>
                <a:spcBef>
                  <a:spcPct val="0"/>
                </a:spcBef>
              </a:pPr>
              <a:r>
                <a:rPr lang="en-US" b="true" sz="3000" spc="-44" strike="noStrike" u="none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Max Items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0" y="1295189"/>
              <a:ext cx="9182100" cy="53234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2F5972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Agent can carry a maximum of three items.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2368158" cy="9401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blipFill>
              <a:blip r:embed="rId2"/>
              <a:stretch>
                <a:fillRect l="0" t="-66" r="0" b="-66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1152525"/>
            <a:ext cx="6886575" cy="2162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500"/>
              </a:lnSpc>
            </a:pPr>
            <a:r>
              <a:rPr lang="en-US" sz="15000" spc="-450">
                <a:solidFill>
                  <a:srgbClr val="2F5972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100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7288212"/>
            <a:ext cx="6886575" cy="2332038"/>
            <a:chOff x="0" y="0"/>
            <a:chExt cx="9182100" cy="310938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-9525"/>
              <a:ext cx="9182100" cy="5619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Maximum Steps Per Episode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09625"/>
              <a:ext cx="9182100" cy="229975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</a:pPr>
              <a:r>
                <a:rPr lang="en-US" sz="2499" spc="-37">
                  <a:solidFill>
                    <a:srgbClr val="2F5972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Θεωρήσαμε οτι θα ήταν ιδανικό για τον πράκτορα  διότι αν χρειαζόταν πάνω απο 100 κινήσεις για την επίτευξη των στόχων ο πράκτορας δεν θα ήταν αποδοτικός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2368158" cy="9401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blipFill>
              <a:blip r:embed="rId2"/>
              <a:stretch>
                <a:fillRect l="-5550" t="0" r="-5550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809625"/>
            <a:ext cx="6886575" cy="20796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>
                <a:solidFill>
                  <a:srgbClr val="2F5972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Εnvironment Overview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66750" y="4816475"/>
            <a:ext cx="6886575" cy="4803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spc="-37">
                <a:solidFill>
                  <a:srgbClr val="2F5972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The agent always starts at position (1,1).</a:t>
            </a:r>
          </a:p>
          <a:p>
            <a:pPr algn="l">
              <a:lnSpc>
                <a:spcPts val="3499"/>
              </a:lnSpc>
            </a:pPr>
            <a:r>
              <a:rPr lang="en-US" sz="2499" spc="-37">
                <a:solidFill>
                  <a:srgbClr val="2F5972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We implemented three control buttons:</a:t>
            </a: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 spc="-37">
                <a:solidFill>
                  <a:srgbClr val="2F5972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Start Experiment: runs the agent for 100 episodes and computes the average utility.</a:t>
            </a: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 spc="-37">
                <a:solidFill>
                  <a:srgbClr val="2F5972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Reset: resets the environment to its initial state and then randomizes the positions of the door, chair, and table.</a:t>
            </a: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 spc="-37">
                <a:solidFill>
                  <a:srgbClr val="2F5972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Run One Episode: executes a single episode, allowing us to observe the agent’s behavior step by step.</a:t>
            </a:r>
          </a:p>
          <a:p>
            <a:pPr algn="l" marL="0" indent="0" lvl="0">
              <a:lnSpc>
                <a:spcPts val="3499"/>
              </a:lnSpc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ABD0E2"/>
            </a:solidFill>
            <a:ln cap="rnd">
              <a:noFill/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4465383" cy="24152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800225" y="1562100"/>
            <a:ext cx="12944475" cy="6134184"/>
            <a:chOff x="0" y="0"/>
            <a:chExt cx="17259300" cy="8178912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2F5972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Wh</a:t>
              </a:r>
              <a:r>
                <a:rPr lang="en-US" sz="8000" spc="-240">
                  <a:solidFill>
                    <a:srgbClr val="2F5972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at worked &amp; what had issues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2187687"/>
              <a:ext cx="17259300" cy="5991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520"/>
                </a:lnSpc>
              </a:pPr>
              <a:r>
                <a:rPr lang="en-US" sz="2100" spc="-31" b="true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What worked</a:t>
              </a:r>
            </a:p>
            <a:p>
              <a:pPr algn="l" marL="453395" indent="-226697" lvl="1">
                <a:lnSpc>
                  <a:spcPts val="2520"/>
                </a:lnSpc>
                <a:buFont typeface="Arial"/>
                <a:buChar char="•"/>
              </a:pPr>
              <a:r>
                <a:rPr lang="en-US" b="true" sz="2100" spc="-31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The grid environment and object representation were implemented (agent start at (1,1), walls, objects).</a:t>
              </a:r>
            </a:p>
            <a:p>
              <a:pPr algn="l" marL="453395" indent="-226697" lvl="1">
                <a:lnSpc>
                  <a:spcPts val="2520"/>
                </a:lnSpc>
                <a:buFont typeface="Arial"/>
                <a:buChar char="•"/>
              </a:pPr>
              <a:r>
                <a:rPr lang="en-US" b="true" sz="2100" spc="-31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Core agent actions were implemented at the logic level (movement, picking required items, attempting paint/open).</a:t>
              </a:r>
            </a:p>
            <a:p>
              <a:pPr algn="l" marL="453395" indent="-226697" lvl="1">
                <a:lnSpc>
                  <a:spcPts val="2520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b="true" sz="2100" spc="-31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The A* planner successfully produced a valid path </a:t>
              </a:r>
              <a:r>
                <a:rPr lang="en-US" b="true" sz="2100" spc="-31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as a list of moves for navigation.</a:t>
              </a:r>
            </a:p>
            <a:p>
              <a:pPr algn="l" marL="0" indent="0" lvl="0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2100" spc="-31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Issues / bugs encountered</a:t>
              </a:r>
            </a:p>
            <a:p>
              <a:pPr algn="l" marL="453395" indent="-226697" lvl="1">
                <a:lnSpc>
                  <a:spcPts val="2520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b="true" sz="2100" spc="-31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The agent often appeared “stuck” because of synchronization/communication issues with the graphical interface (the internal state and the visual state were not always aligned).</a:t>
              </a:r>
            </a:p>
            <a:p>
              <a:pPr algn="l" marL="453395" indent="-226697" lvl="1">
                <a:lnSpc>
                  <a:spcPts val="2520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b="true" sz="2100" spc="-31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Some planned actions were computed correctly but were not executed/visualized reliably step-by-step.</a:t>
              </a:r>
            </a:p>
            <a:p>
              <a:pPr algn="l" marL="453395" indent="-226697" lvl="1">
                <a:lnSpc>
                  <a:spcPts val="2520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b="true" sz="2100" spc="-31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As a result, we could not run stable 100-episode experiments to report trustworthy averages.</a:t>
              </a:r>
            </a:p>
            <a:p>
              <a:pPr algn="l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-3117037">
            <a:off x="16099474" y="7952721"/>
            <a:ext cx="2112604" cy="1859092"/>
          </a:xfrm>
          <a:custGeom>
            <a:avLst/>
            <a:gdLst/>
            <a:ahLst/>
            <a:cxnLst/>
            <a:rect r="r" b="b" t="t" l="l"/>
            <a:pathLst>
              <a:path h="1859092" w="2112604">
                <a:moveTo>
                  <a:pt x="0" y="0"/>
                </a:moveTo>
                <a:lnTo>
                  <a:pt x="2112605" y="0"/>
                </a:lnTo>
                <a:lnTo>
                  <a:pt x="2112605" y="1859092"/>
                </a:lnTo>
                <a:lnTo>
                  <a:pt x="0" y="18590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ABD0E2"/>
            </a:solidFill>
            <a:ln cap="rnd">
              <a:noFill/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4465383" cy="24152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800225" y="1562100"/>
            <a:ext cx="12944475" cy="8610684"/>
            <a:chOff x="0" y="0"/>
            <a:chExt cx="17259300" cy="11480912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2F5972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Futu</a:t>
              </a:r>
              <a:r>
                <a:rPr lang="en-US" sz="8000" spc="-240">
                  <a:solidFill>
                    <a:srgbClr val="2F5972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re improvements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2187687"/>
              <a:ext cx="7979828" cy="9293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80"/>
                </a:lnSpc>
              </a:pPr>
              <a:r>
                <a:rPr lang="en-US" sz="2400" spc="-36" b="true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Stability &amp; debugging</a:t>
              </a:r>
            </a:p>
            <a:p>
              <a:pPr algn="l" marL="518163" indent="-259082" lvl="1">
                <a:lnSpc>
                  <a:spcPts val="2880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b="true" sz="2400" spc="-36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Fix the GUI–environment sync</a:t>
              </a:r>
              <a:r>
                <a:rPr lang="en-US" b="true" sz="2400" spc="-36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hronization so every action update is reflected consistently in the grid view.</a:t>
              </a:r>
            </a:p>
            <a:p>
              <a:pPr algn="l" marL="474984" indent="-237492" lvl="1">
                <a:lnSpc>
                  <a:spcPts val="2640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b="true" sz="2200" spc="-33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Add stronger logging/telemetry (state before/after each action, percept updates, and action acknowledgements).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b="true" sz="2400" spc="-36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Navigation &amp; planning</a:t>
              </a:r>
            </a:p>
            <a:p>
              <a:pPr algn="l" marL="518163" indent="-259082" lvl="1">
                <a:lnSpc>
                  <a:spcPts val="2880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b="true" sz="2400" spc="-36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Connect the returned A* path to reliable action execution (validate each step, handle blocked moves, replan if needed).</a:t>
              </a:r>
            </a:p>
            <a:p>
              <a:pPr algn="l" marL="518163" indent="-259082" lvl="1">
                <a:lnSpc>
                  <a:spcPts val="2880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b="true" sz="2400" spc="-36">
                  <a:solidFill>
                    <a:srgbClr val="2F5972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Add fail-safe handling (timeouts, max steps per episode, and clear failure states).</a:t>
              </a:r>
            </a:p>
            <a:p>
              <a:pPr algn="l">
                <a:lnSpc>
                  <a:spcPts val="2880"/>
                </a:lnSpc>
                <a:spcBef>
                  <a:spcPct val="0"/>
                </a:spcBef>
              </a:pP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-3117037">
            <a:off x="16099474" y="7952721"/>
            <a:ext cx="2112604" cy="1859092"/>
          </a:xfrm>
          <a:custGeom>
            <a:avLst/>
            <a:gdLst/>
            <a:ahLst/>
            <a:cxnLst/>
            <a:rect r="r" b="b" t="t" l="l"/>
            <a:pathLst>
              <a:path h="1859092" w="2112604">
                <a:moveTo>
                  <a:pt x="0" y="0"/>
                </a:moveTo>
                <a:lnTo>
                  <a:pt x="2112605" y="0"/>
                </a:lnTo>
                <a:lnTo>
                  <a:pt x="2112605" y="1859092"/>
                </a:lnTo>
                <a:lnTo>
                  <a:pt x="0" y="18590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9" id="9"/>
          <p:cNvSpPr txBox="true"/>
          <p:nvPr/>
        </p:nvSpPr>
        <p:spPr>
          <a:xfrm rot="0">
            <a:off x="8272463" y="2794552"/>
            <a:ext cx="6137822" cy="68256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29"/>
              </a:lnSpc>
            </a:pPr>
            <a:r>
              <a:rPr lang="en-US" sz="2020" b="true">
                <a:solidFill>
                  <a:srgbClr val="2F5972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Environment &amp; tasks</a:t>
            </a:r>
          </a:p>
          <a:p>
            <a:pPr algn="ctr" marL="436312" indent="-218156" lvl="1">
              <a:lnSpc>
                <a:spcPts val="282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020">
                <a:solidFill>
                  <a:srgbClr val="2F5972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Complete clean reset + controlled randomization of </a:t>
            </a:r>
            <a:r>
              <a:rPr lang="en-US" b="true" sz="2020">
                <a:solidFill>
                  <a:srgbClr val="2F5972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objects (D, Ch, T) and ensure percepts update correctly.</a:t>
            </a:r>
          </a:p>
          <a:p>
            <a:pPr algn="ctr" marL="436312" indent="-218156" lvl="1">
              <a:lnSpc>
                <a:spcPts val="282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020">
                <a:solidFill>
                  <a:srgbClr val="2F5972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Enforce carrying constraints and add missing interactions if needed (e.g., drop).</a:t>
            </a:r>
          </a:p>
          <a:p>
            <a:pPr algn="ctr">
              <a:lnSpc>
                <a:spcPts val="2829"/>
              </a:lnSpc>
              <a:spcBef>
                <a:spcPct val="0"/>
              </a:spcBef>
            </a:pPr>
            <a:r>
              <a:rPr lang="en-US" b="true" sz="2020">
                <a:solidFill>
                  <a:srgbClr val="2F5972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Multi-agent extension</a:t>
            </a:r>
          </a:p>
          <a:p>
            <a:pPr algn="ctr" marL="436312" indent="-218156" lvl="1">
              <a:lnSpc>
                <a:spcPts val="282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020">
                <a:solidFill>
                  <a:srgbClr val="2F5972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Introduce 2+ agents in the same grid with:</a:t>
            </a:r>
          </a:p>
          <a:p>
            <a:pPr algn="ctr" marL="872624" indent="-290875" lvl="2">
              <a:lnSpc>
                <a:spcPts val="2829"/>
              </a:lnSpc>
              <a:spcBef>
                <a:spcPct val="0"/>
              </a:spcBef>
              <a:buFont typeface="Arial"/>
              <a:buChar char="⚬"/>
            </a:pPr>
            <a:r>
              <a:rPr lang="en-US" b="true" sz="2020">
                <a:solidFill>
                  <a:srgbClr val="2F5972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coordination (task allocation: one agent collects items while another navigates to goals),</a:t>
            </a:r>
          </a:p>
          <a:p>
            <a:pPr algn="ctr" marL="872624" indent="-290875" lvl="2">
              <a:lnSpc>
                <a:spcPts val="2829"/>
              </a:lnSpc>
              <a:spcBef>
                <a:spcPct val="0"/>
              </a:spcBef>
              <a:buFont typeface="Arial"/>
              <a:buChar char="⚬"/>
            </a:pPr>
            <a:r>
              <a:rPr lang="en-US" b="true" sz="2020">
                <a:solidFill>
                  <a:srgbClr val="2F5972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communication (sharing beliefs/percepts: “I found the key at (x,y)”),</a:t>
            </a:r>
          </a:p>
          <a:p>
            <a:pPr algn="ctr" marL="872624" indent="-290875" lvl="2">
              <a:lnSpc>
                <a:spcPts val="2829"/>
              </a:lnSpc>
              <a:spcBef>
                <a:spcPct val="0"/>
              </a:spcBef>
              <a:buFont typeface="Arial"/>
              <a:buChar char="⚬"/>
            </a:pPr>
            <a:r>
              <a:rPr lang="en-US" b="true" sz="2020">
                <a:solidFill>
                  <a:srgbClr val="2F5972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conflict resolution (collision avoidance, resource contention),</a:t>
            </a:r>
          </a:p>
          <a:p>
            <a:pPr algn="ctr" marL="872624" indent="-290875" lvl="2">
              <a:lnSpc>
                <a:spcPts val="2829"/>
              </a:lnSpc>
              <a:spcBef>
                <a:spcPct val="0"/>
              </a:spcBef>
              <a:buFont typeface="Arial"/>
              <a:buChar char="⚬"/>
            </a:pPr>
            <a:r>
              <a:rPr lang="en-US" b="true" sz="2020">
                <a:solidFill>
                  <a:srgbClr val="2F5972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collaborative goals (e.g., one opens the door while the other paints furniture).</a:t>
            </a:r>
          </a:p>
          <a:p>
            <a:pPr algn="ctr">
              <a:lnSpc>
                <a:spcPts val="282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7858125" cy="10287000"/>
            <a:chOff x="0" y="0"/>
            <a:chExt cx="1031988" cy="135096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31988" cy="1350966"/>
            </a:xfrm>
            <a:custGeom>
              <a:avLst/>
              <a:gdLst/>
              <a:ahLst/>
              <a:cxnLst/>
              <a:rect r="r" b="b" t="t" l="l"/>
              <a:pathLst>
                <a:path h="1350966" w="1031988">
                  <a:moveTo>
                    <a:pt x="0" y="0"/>
                  </a:moveTo>
                  <a:lnTo>
                    <a:pt x="1031988" y="0"/>
                  </a:lnTo>
                  <a:lnTo>
                    <a:pt x="1031988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2F5972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1052512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9303759" y="942975"/>
            <a:ext cx="8317491" cy="3894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4956"/>
              </a:lnSpc>
            </a:pPr>
            <a:r>
              <a:rPr lang="en-US" sz="14956" spc="-523">
                <a:solidFill>
                  <a:srgbClr val="2F5972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Thanks For Watching 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-3117037">
            <a:off x="5418783" y="7952721"/>
            <a:ext cx="2112604" cy="1859092"/>
          </a:xfrm>
          <a:custGeom>
            <a:avLst/>
            <a:gdLst/>
            <a:ahLst/>
            <a:cxnLst/>
            <a:rect r="r" b="b" t="t" l="l"/>
            <a:pathLst>
              <a:path h="1859092" w="2112604">
                <a:moveTo>
                  <a:pt x="0" y="0"/>
                </a:moveTo>
                <a:lnTo>
                  <a:pt x="2112604" y="0"/>
                </a:lnTo>
                <a:lnTo>
                  <a:pt x="2112604" y="1859092"/>
                </a:lnTo>
                <a:lnTo>
                  <a:pt x="0" y="18590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DAG5pzYd4bw</dc:identifier>
  <dcterms:modified xsi:type="dcterms:W3CDTF">2011-08-01T06:04:30Z</dcterms:modified>
  <cp:revision>1</cp:revision>
  <dc:title>Jason Agentic World Project</dc:title>
</cp:coreProperties>
</file>