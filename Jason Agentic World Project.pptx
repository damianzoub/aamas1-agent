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Georgia Pro Condensed" panose="020B0604020202020204" charset="0"/>
      <p:regular r:id="rId20"/>
    </p:embeddedFont>
    <p:embeddedFont>
      <p:font typeface="Wingdings 3" panose="050401020108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2171701"/>
            <a:ext cx="13238487" cy="4994372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0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6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292600"/>
            <a:ext cx="13238486" cy="28734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9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4969" y="3090863"/>
            <a:ext cx="6594509" cy="6293645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1740" y="3084139"/>
            <a:ext cx="6594512" cy="6300368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2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70" y="2857500"/>
            <a:ext cx="659450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4969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1743" y="2857500"/>
            <a:ext cx="659450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1743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8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78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9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0" y="2171700"/>
            <a:ext cx="5101596" cy="21717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6925" y="2171700"/>
            <a:ext cx="7793996" cy="68580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0" y="4693921"/>
            <a:ext cx="5101595" cy="4343399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0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781288"/>
            <a:ext cx="7639359" cy="236221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24319" y="1714500"/>
            <a:ext cx="480060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7627469" cy="2057400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9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200880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700"/>
            <a:ext cx="13238487" cy="54609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4" y="805098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0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13238489" cy="2971800"/>
          </a:xfrm>
        </p:spPr>
        <p:txBody>
          <a:bodyPr/>
          <a:lstStyle>
            <a:lvl1pPr>
              <a:defRPr sz="7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13238489" cy="35433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76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2" y="2171700"/>
            <a:ext cx="11998973" cy="3485061"/>
          </a:xfrm>
        </p:spPr>
        <p:txBody>
          <a:bodyPr/>
          <a:lstStyle>
            <a:lvl1pPr>
              <a:defRPr sz="7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895601" y="5656761"/>
            <a:ext cx="10919474" cy="51326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47443" y="1456880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5735" y="3920681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1074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4686302"/>
            <a:ext cx="13238490" cy="247977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166072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54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421" y="2971800"/>
            <a:ext cx="442029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8695" y="4000500"/>
            <a:ext cx="4391025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5489" y="2971800"/>
            <a:ext cx="440436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09659" y="4000500"/>
            <a:ext cx="4420191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2971800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87051" y="4000500"/>
            <a:ext cx="4398170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11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695" y="6376424"/>
            <a:ext cx="441007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8695" y="3314700"/>
            <a:ext cx="4410075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8695" y="7240817"/>
            <a:ext cx="4410075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4063" y="6376424"/>
            <a:ext cx="439578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4062" y="3314700"/>
            <a:ext cx="4395788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2033" y="7240816"/>
            <a:ext cx="4401609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6376424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87049" y="3314700"/>
            <a:ext cx="4398170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86863" y="7240813"/>
            <a:ext cx="4403996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3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04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56319" y="645320"/>
            <a:ext cx="2628902" cy="8739188"/>
          </a:xfrm>
        </p:spPr>
        <p:txBody>
          <a:bodyPr vert="eaVert" anchor="b" anchorCtr="0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8695" y="1331121"/>
            <a:ext cx="11134724" cy="8053386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3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004528"/>
            <a:ext cx="6055518" cy="6282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38521"/>
            <a:ext cx="2283618" cy="35481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13518" y="2514600"/>
            <a:ext cx="4229100" cy="42291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1999119" y="1"/>
            <a:ext cx="2405081" cy="1712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08817" y="9144000"/>
            <a:ext cx="1490601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167" y="679077"/>
            <a:ext cx="14107085" cy="21007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69" y="3079378"/>
            <a:ext cx="13419812" cy="6293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33459" y="268605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27360" y="4837946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16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63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7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590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ABD0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6750" y="7763510"/>
            <a:ext cx="6886575" cy="185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>
                <a:solidFill>
                  <a:srgbClr val="2F59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Damianos Zoumpos, Giorgos Azam, Αnna-Maria Naidenova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Jason Agent in Grid-World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BD0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117037">
            <a:off x="15848658" y="728597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sp>
        <p:nvSpPr>
          <p:cNvPr id="6" name="Freeform 6"/>
          <p:cNvSpPr/>
          <p:nvPr/>
        </p:nvSpPr>
        <p:spPr>
          <a:xfrm>
            <a:off x="10741461" y="2599078"/>
            <a:ext cx="6879789" cy="4600279"/>
          </a:xfrm>
          <a:custGeom>
            <a:avLst/>
            <a:gdLst/>
            <a:ahLst/>
            <a:cxnLst/>
            <a:rect l="l" t="t" r="r" b="b"/>
            <a:pathLst>
              <a:path w="6879789" h="4600279">
                <a:moveTo>
                  <a:pt x="0" y="0"/>
                </a:moveTo>
                <a:lnTo>
                  <a:pt x="6879789" y="0"/>
                </a:lnTo>
                <a:lnTo>
                  <a:pt x="6879789" y="4600279"/>
                </a:lnTo>
                <a:lnTo>
                  <a:pt x="0" y="4600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50" r="-2872" b="-1250"/>
            </a:stretch>
          </a:blipFill>
        </p:spPr>
        <p:txBody>
          <a:bodyPr/>
          <a:lstStyle/>
          <a:p>
            <a:endParaRPr lang="el-GR"/>
          </a:p>
        </p:txBody>
      </p:sp>
      <p:grpSp>
        <p:nvGrpSpPr>
          <p:cNvPr id="7" name="Group 7"/>
          <p:cNvGrpSpPr/>
          <p:nvPr/>
        </p:nvGrpSpPr>
        <p:grpSpPr>
          <a:xfrm>
            <a:off x="1028700" y="1327770"/>
            <a:ext cx="12238968" cy="6863292"/>
            <a:chOff x="0" y="0"/>
            <a:chExt cx="16318624" cy="9151057"/>
          </a:xfrm>
        </p:grpSpPr>
        <p:sp>
          <p:nvSpPr>
            <p:cNvPr id="8" name="TextBox 8"/>
            <p:cNvSpPr txBox="1"/>
            <p:nvPr/>
          </p:nvSpPr>
          <p:spPr>
            <a:xfrm>
              <a:off x="0" y="-85725"/>
              <a:ext cx="16318624" cy="1614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833"/>
                </a:lnSpc>
              </a:pPr>
              <a:r>
                <a:rPr lang="en-US" sz="7564" spc="-226">
                  <a:solidFill>
                    <a:srgbClr val="2F5972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Επισκόπηση του Περιβάλλοντος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067933"/>
              <a:ext cx="16318624" cy="531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6"/>
                </a:lnSpc>
                <a:spcBef>
                  <a:spcPct val="0"/>
                </a:spcBef>
              </a:pPr>
              <a:r>
                <a:rPr lang="en-US" sz="2363" b="1" spc="-35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Η αρχική θέση του Πράκτορα (1,1)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74758"/>
              <a:ext cx="12775688" cy="6276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9"/>
                </a:lnSpc>
              </a:pP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Το περιβάλλον της εργασίας είναι ένα </a:t>
              </a:r>
              <a:r>
                <a:rPr lang="en-US" sz="2363" b="1" spc="-35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2D Grid 5*5</a:t>
              </a: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στο οποίο ο πράκτορας καλείται να εκτελέσει μια σειρά από ενέργειες με στόχο να </a:t>
              </a:r>
              <a:r>
                <a:rPr lang="en-US" sz="2363" b="1" spc="-35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βάψει το Τραπέζι (Τ) και την Καρέκλα (Ch) και να ανοίξει την Πόρτα (D). </a:t>
              </a: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Η αρχική θέση του πράκτορα είναι πάντα το (1,1). Σε κάθε επεισόδιο οι θέσεις των D;T,Ch αλλάζουν αλλά παραμένουν σταθερές κατά τη διάρκειά του. </a:t>
              </a:r>
            </a:p>
            <a:p>
              <a:pPr algn="l">
                <a:lnSpc>
                  <a:spcPts val="3309"/>
                </a:lnSpc>
              </a:pP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Οι τοίχοι βρίσκονται:</a:t>
              </a:r>
            </a:p>
            <a:p>
              <a:pPr marL="510331" lvl="1" indent="-255165" algn="l">
                <a:lnSpc>
                  <a:spcPts val="3309"/>
                </a:lnSpc>
                <a:buFont typeface="Arial"/>
                <a:buChar char="•"/>
              </a:pP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(1,2)</a:t>
              </a:r>
            </a:p>
            <a:p>
              <a:pPr marL="510331" lvl="1" indent="-255165" algn="l">
                <a:lnSpc>
                  <a:spcPts val="3309"/>
                </a:lnSpc>
                <a:buFont typeface="Arial"/>
                <a:buChar char="•"/>
              </a:pP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(2,2)</a:t>
              </a:r>
            </a:p>
            <a:p>
              <a:pPr marL="510331" lvl="1" indent="-255165" algn="l">
                <a:lnSpc>
                  <a:spcPts val="3309"/>
                </a:lnSpc>
                <a:buFont typeface="Arial"/>
                <a:buChar char="•"/>
              </a:pP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(4,4)</a:t>
              </a:r>
            </a:p>
            <a:p>
              <a:pPr marL="510331" lvl="1" indent="-255165" algn="l">
                <a:lnSpc>
                  <a:spcPts val="3309"/>
                </a:lnSpc>
                <a:buFont typeface="Arial"/>
                <a:buChar char="•"/>
              </a:pPr>
              <a:r>
                <a:rPr lang="en-US" sz="2363" spc="-35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(4,5)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BD0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0225" y="1562100"/>
            <a:ext cx="13972511" cy="4957763"/>
            <a:chOff x="0" y="0"/>
            <a:chExt cx="18630015" cy="6610350"/>
          </a:xfrm>
        </p:grpSpPr>
        <p:sp>
          <p:nvSpPr>
            <p:cNvPr id="6" name="TextBox 6"/>
            <p:cNvSpPr txBox="1"/>
            <p:nvPr/>
          </p:nvSpPr>
          <p:spPr>
            <a:xfrm>
              <a:off x="0" y="-85725"/>
              <a:ext cx="18630015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F5972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Κύριοι Στόχοι του Πράκτορα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87687"/>
              <a:ext cx="18630015" cy="561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Οι βασικοί στόχοι του πράκτορα Jason στο περιβάλλον του grid-world είναι: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053291"/>
              <a:ext cx="14585252" cy="3557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8" lvl="1" indent="-269874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Να βάψει τα αντικείμενα-στόχους: </a:t>
              </a:r>
              <a:r>
                <a:rPr lang="en-US" sz="2499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το Τραπέζι (Τ) και την Καρέκλα (Ch)</a:t>
              </a:r>
            </a:p>
            <a:p>
              <a:pPr marL="539748" lvl="1" indent="-269874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Να ανοίξει επιτυχώς την Πόρτα (D),</a:t>
              </a:r>
              <a:r>
                <a:rPr lang="en-US" sz="2499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ολοκληρώνοντας έτσι το επεισόδιο</a:t>
              </a:r>
            </a:p>
            <a:p>
              <a:pPr algn="l">
                <a:lnSpc>
                  <a:spcPts val="3499"/>
                </a:lnSpc>
              </a:pPr>
              <a:endParaRPr lang="en-US" sz="2499" spc="-37">
                <a:solidFill>
                  <a:srgbClr val="2F5972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Για την επίτευξης αυτών των στόχων απαιτείται η σωστή συλλογή και χρήση τνω αναγκαίων αντικειμένων, καθώς και αποτελεσματικός σχεδιασμός κινήσεων και ενεργειών του πράκτορα για να θεωρείται αποδοτικός 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BD0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455361"/>
            <a:ext cx="14382750" cy="2062247"/>
            <a:chOff x="0" y="0"/>
            <a:chExt cx="19177000" cy="2749662"/>
          </a:xfrm>
        </p:grpSpPr>
        <p:sp>
          <p:nvSpPr>
            <p:cNvPr id="6" name="TextBox 6"/>
            <p:cNvSpPr txBox="1"/>
            <p:nvPr/>
          </p:nvSpPr>
          <p:spPr>
            <a:xfrm>
              <a:off x="0" y="-85725"/>
              <a:ext cx="191770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F5972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Ενέργειες Πράκτορα(Agent Actions)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87687"/>
              <a:ext cx="19177000" cy="561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Core Functions of the Agent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148213"/>
            <a:ext cx="4657483" cy="3256627"/>
            <a:chOff x="0" y="0"/>
            <a:chExt cx="6209977" cy="434217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6209977" cy="592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2"/>
                </a:lnSpc>
                <a:spcBef>
                  <a:spcPct val="0"/>
                </a:spcBef>
              </a:pPr>
              <a:r>
                <a:rPr lang="en-US" sz="2702" b="1" spc="-4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Κατηγορίες Μετακίνησης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67364"/>
              <a:ext cx="6209977" cy="3174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162" spc="-32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Ο πράκτορας μπορεί να μετακινηθεί στο πλέγμα εκτελώντας:</a:t>
              </a:r>
            </a:p>
            <a:p>
              <a:pPr marL="466776" lvl="1" indent="-233388" algn="l">
                <a:lnSpc>
                  <a:spcPts val="3026"/>
                </a:lnSpc>
                <a:buFont typeface="Arial"/>
                <a:buChar char="•"/>
              </a:pPr>
              <a:r>
                <a:rPr lang="en-US" sz="2162" spc="-32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Μετακίνηση </a:t>
              </a:r>
              <a:r>
                <a:rPr lang="en-US" sz="2162" b="1" spc="-32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πάνω</a:t>
              </a:r>
            </a:p>
            <a:p>
              <a:pPr marL="466776" lvl="1" indent="-233388" algn="l">
                <a:lnSpc>
                  <a:spcPts val="3026"/>
                </a:lnSpc>
                <a:buFont typeface="Arial"/>
                <a:buChar char="•"/>
              </a:pPr>
              <a:r>
                <a:rPr lang="en-US" sz="2162" spc="-32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Μετακίνηση </a:t>
              </a:r>
              <a:r>
                <a:rPr lang="en-US" sz="2162" b="1" spc="-32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κάτω</a:t>
              </a:r>
            </a:p>
            <a:p>
              <a:pPr marL="466776" lvl="1" indent="-233388" algn="l">
                <a:lnSpc>
                  <a:spcPts val="3026"/>
                </a:lnSpc>
                <a:buFont typeface="Arial"/>
                <a:buChar char="•"/>
              </a:pPr>
              <a:r>
                <a:rPr lang="en-US" sz="2162" spc="-32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Μετακίνηση </a:t>
              </a:r>
              <a:r>
                <a:rPr lang="en-US" sz="2162" b="1" spc="-32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δεξιά</a:t>
              </a:r>
            </a:p>
            <a:p>
              <a:pPr marL="466776" lvl="1" indent="-233388" algn="l">
                <a:lnSpc>
                  <a:spcPts val="3026"/>
                </a:lnSpc>
                <a:buFont typeface="Arial"/>
                <a:buChar char="•"/>
              </a:pPr>
              <a:r>
                <a:rPr lang="en-US" sz="2162" spc="-32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Μετακίνηση </a:t>
              </a:r>
              <a:r>
                <a:rPr lang="en-US" sz="2162" b="1" spc="-32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αριστερά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34742" y="4148213"/>
            <a:ext cx="4010025" cy="3721100"/>
            <a:chOff x="0" y="0"/>
            <a:chExt cx="5346700" cy="4961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5346700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Κατηγορία Συλλογής Αντικειμένων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606550"/>
              <a:ext cx="5346700" cy="3354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30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Ενέργειες που σχετίζονται με την αλληλεπίδραση με αντικείμενα στο περιβάλλον: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Αρπαγή αντικειμένου (pick)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Aπόθεση αντικειμένου (drop) 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30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Ο πράκτορας μπορεί να μεταφέρει μέχρι 3 αντικείμενα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3676" y="4148213"/>
            <a:ext cx="4010025" cy="3021012"/>
            <a:chOff x="0" y="0"/>
            <a:chExt cx="5346700" cy="402801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5346700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Κατηγορία Βαψίματος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66800"/>
              <a:ext cx="5346700" cy="296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30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Ενέργειες που αφορούν την ολοκλήρωση των στόχων: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Βάψιμο του Τ (Τραπέζι)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Βάψιμο του Ch (Καρέκλα)</a:t>
              </a:r>
            </a:p>
            <a:p>
              <a:pPr algn="l">
                <a:lnSpc>
                  <a:spcPts val="2800"/>
                </a:lnSpc>
              </a:pP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Προυπόθεση: </a:t>
              </a:r>
              <a:r>
                <a:rPr lang="en-US" sz="2000" spc="-30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να κατέχει ο πράκτορας </a:t>
              </a: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Βrush (B) &amp; Color (Cl)</a:t>
              </a:r>
            </a:p>
          </p:txBody>
        </p:sp>
      </p:grpSp>
      <p:sp>
        <p:nvSpPr>
          <p:cNvPr id="17" name="Freeform 17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18" name="Group 18"/>
          <p:cNvGrpSpPr/>
          <p:nvPr/>
        </p:nvGrpSpPr>
        <p:grpSpPr>
          <a:xfrm>
            <a:off x="13783701" y="4148213"/>
            <a:ext cx="3775695" cy="2311400"/>
            <a:chOff x="0" y="0"/>
            <a:chExt cx="5034260" cy="308186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0"/>
              <a:ext cx="5034260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Κατηγορία Ενεργειών Πόρτας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606550"/>
              <a:ext cx="5034260" cy="1475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30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Χειρισμός της Πόρτας (D)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Άνοιγμα Πόρτας</a:t>
              </a:r>
            </a:p>
            <a:p>
              <a:pPr algn="l">
                <a:lnSpc>
                  <a:spcPts val="2800"/>
                </a:lnSpc>
              </a:pPr>
              <a:r>
                <a:rPr lang="en-US" sz="2000" b="1" spc="-30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Απαιτεί:  Κey (K) &amp; Code (Cd)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Action Constraints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05025" y="4259580"/>
            <a:ext cx="6886575" cy="1370648"/>
            <a:chOff x="0" y="0"/>
            <a:chExt cx="9182100" cy="182753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Brush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Requires color for successful painting actions.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6944836"/>
            <a:ext cx="6886575" cy="1370648"/>
            <a:chOff x="0" y="0"/>
            <a:chExt cx="9182100" cy="182753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Color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Needed in conjunction with the brush for painting.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025" y="6937534"/>
            <a:ext cx="6886575" cy="1416844"/>
            <a:chOff x="0" y="0"/>
            <a:chExt cx="9182100" cy="188912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56783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Necessary for opening doors within the grid.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6750" y="42443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750" y="693039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734675" y="4258786"/>
            <a:ext cx="6886575" cy="1370648"/>
            <a:chOff x="0" y="0"/>
            <a:chExt cx="9182100" cy="182753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Max Items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Agent can carry a maximum of three items.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1152525"/>
            <a:ext cx="6886575" cy="216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00"/>
              </a:lnSpc>
            </a:pPr>
            <a:r>
              <a:rPr lang="en-US" sz="15000" spc="-450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100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7288212"/>
            <a:ext cx="6886575" cy="2332038"/>
            <a:chOff x="0" y="0"/>
            <a:chExt cx="9182100" cy="3109384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182100" cy="561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Maximum Steps Per Episode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09625"/>
              <a:ext cx="9182100" cy="2299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2F597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Θεωρήσαμε οτι θα ήταν ιδανικό για τον πράκτορα  διότι αν χρειαζόταν πάνω απο 100 κινήσεις για την επίτευξη των στόχων ο πράκτορας δεν θα ήταν αποδοτικός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D5AF6-71DD-989F-041A-1D68B6ABAE1E}"/>
              </a:ext>
            </a:extLst>
          </p:cNvPr>
          <p:cNvSpPr txBox="1"/>
          <p:nvPr/>
        </p:nvSpPr>
        <p:spPr>
          <a:xfrm>
            <a:off x="152400" y="190500"/>
            <a:ext cx="17602200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Στους πρώτους 100 κύκλους, οι πράκτορες παρέμειναν ακίνητοι καθώς προσπαθούσαν να αποφασίσουν ποιος θα αναλάβει το άνοιγμα της πόρτας. </a:t>
            </a:r>
          </a:p>
          <a:p>
            <a:r>
              <a:rPr lang="el-GR" sz="2000" dirty="0"/>
              <a:t>Ο δεύτερος πράκτορας  υπολόγισε μεγαλύτερη χρησιμότητα (99) σε σχέση με τον πρώτο (95) λόγω της κοντινότερης απόστασής του και τελικά ανέλαβε τον στόχο. </a:t>
            </a:r>
          </a:p>
          <a:p>
            <a:r>
              <a:rPr lang="el-GR" sz="2000" dirty="0"/>
              <a:t>Ωστόσο, επειδή όλος ο χρόνος ξοδεύτηκε στη διαπραγμάτευση και δεν έγινε καμία ενέργεια.</a:t>
            </a:r>
          </a:p>
          <a:p>
            <a:endParaRPr lang="el-GR" sz="2000" dirty="0"/>
          </a:p>
          <a:p>
            <a:r>
              <a:rPr lang="el-GR" sz="2000" dirty="0"/>
              <a:t>Στους κύκλους </a:t>
            </a:r>
            <a:r>
              <a:rPr lang="el-GR" sz="2000" b="1" dirty="0"/>
              <a:t>100 έως 200</a:t>
            </a:r>
            <a:r>
              <a:rPr lang="el-GR" sz="2000" dirty="0"/>
              <a:t>, η εικόνα των αριθμών αλλάζει καθώς το σύστημα περνάει από την αδράνεια στην παραγωγή έργου.</a:t>
            </a:r>
          </a:p>
          <a:p>
            <a:r>
              <a:rPr lang="el-GR" sz="2000" dirty="0"/>
              <a:t>Ενώ ο δεύτερος πράκτορας εκτελούσε την πρώτη εργασία, οι δύο πράκτορες υπολόγισαν και συνέκριναν τη χρησιμότητά τους για τον επόμενο στόχο, το </a:t>
            </a:r>
            <a:r>
              <a:rPr lang="el-GR" sz="2000" b="1" dirty="0" err="1"/>
              <a:t>Paint</a:t>
            </a:r>
            <a:r>
              <a:rPr lang="el-GR" sz="2000" b="1" dirty="0"/>
              <a:t> </a:t>
            </a:r>
            <a:r>
              <a:rPr lang="el-GR" sz="2000" b="1" dirty="0" err="1"/>
              <a:t>Table</a:t>
            </a:r>
            <a:r>
              <a:rPr lang="el-GR" sz="2000" dirty="0"/>
              <a:t>:</a:t>
            </a:r>
          </a:p>
          <a:p>
            <a:r>
              <a:rPr lang="el-GR" sz="2000" b="1" dirty="0" err="1"/>
              <a:t>Main</a:t>
            </a:r>
            <a:r>
              <a:rPr lang="el-GR" sz="2000" b="1" dirty="0"/>
              <a:t> </a:t>
            </a:r>
            <a:r>
              <a:rPr lang="el-GR" sz="2000" b="1" dirty="0" err="1"/>
              <a:t>Agent</a:t>
            </a:r>
            <a:r>
              <a:rPr lang="el-GR" sz="2000" b="1" dirty="0"/>
              <a:t>:</a:t>
            </a:r>
            <a:r>
              <a:rPr lang="el-GR" sz="2000" dirty="0"/>
              <a:t> Υπολόγισε </a:t>
            </a:r>
            <a:r>
              <a:rPr lang="el-GR" sz="2000" dirty="0" err="1"/>
              <a:t>Utility</a:t>
            </a:r>
            <a:r>
              <a:rPr lang="el-GR" sz="2000" dirty="0"/>
              <a:t> = </a:t>
            </a:r>
            <a:r>
              <a:rPr lang="el-GR" sz="2000" b="1" dirty="0"/>
              <a:t>96</a:t>
            </a:r>
            <a:r>
              <a:rPr lang="el-GR" sz="2000" dirty="0"/>
              <a:t> </a:t>
            </a:r>
          </a:p>
          <a:p>
            <a:r>
              <a:rPr lang="el-GR" sz="2000" b="1" dirty="0" err="1"/>
              <a:t>Second</a:t>
            </a:r>
            <a:r>
              <a:rPr lang="el-GR" sz="2000" b="1" dirty="0"/>
              <a:t> </a:t>
            </a:r>
            <a:r>
              <a:rPr lang="el-GR" sz="2000" b="1" dirty="0" err="1"/>
              <a:t>Agent</a:t>
            </a:r>
            <a:r>
              <a:rPr lang="el-GR" sz="2000" b="1" dirty="0"/>
              <a:t>:</a:t>
            </a:r>
            <a:r>
              <a:rPr lang="el-GR" sz="2000" dirty="0"/>
              <a:t> Υπολόγισε </a:t>
            </a:r>
            <a:r>
              <a:rPr lang="el-GR" sz="2000" dirty="0" err="1"/>
              <a:t>Utility</a:t>
            </a:r>
            <a:r>
              <a:rPr lang="el-GR" sz="2000" dirty="0"/>
              <a:t> = </a:t>
            </a:r>
            <a:r>
              <a:rPr lang="el-GR" sz="2000" b="1" dirty="0"/>
              <a:t>97</a:t>
            </a:r>
            <a:r>
              <a:rPr lang="el-GR" sz="2000" dirty="0"/>
              <a:t> </a:t>
            </a:r>
          </a:p>
          <a:p>
            <a:r>
              <a:rPr lang="el-GR" sz="2000" b="1" dirty="0"/>
              <a:t>Αποτέλεσμα:</a:t>
            </a:r>
            <a:r>
              <a:rPr lang="el-GR" sz="2000" dirty="0"/>
              <a:t> Με διαφορά μόλις </a:t>
            </a:r>
            <a:r>
              <a:rPr lang="el-GR" sz="2000" b="1" dirty="0"/>
              <a:t>1 μονάδας</a:t>
            </a:r>
            <a:r>
              <a:rPr lang="el-GR" sz="2000" dirty="0"/>
              <a:t> (97 &gt; 96), ο δεύτερος πράκτορας κέρδισε και αυτόν τον στόχο, δείχνοντας πως η θέση του στον χώρο ήταν στρατηγικά καλύτερη.</a:t>
            </a:r>
          </a:p>
          <a:p>
            <a:r>
              <a:rPr lang="el-GR" sz="2000" dirty="0"/>
              <a:t>Σε αντίθεση με το απόλυτο </a:t>
            </a:r>
            <a:r>
              <a:rPr lang="el-GR" sz="2000" b="1" dirty="0"/>
              <a:t>0</a:t>
            </a:r>
            <a:r>
              <a:rPr lang="el-GR" sz="2000" dirty="0"/>
              <a:t> των πρώτων 100 κύκλων, σε αυτό το διάστημα καταγράφονται αρνητικά νούμερα που αντιπροσωπεύουν την "επένδυση" ενέργειας:</a:t>
            </a:r>
          </a:p>
          <a:p>
            <a:r>
              <a:rPr lang="el-GR" sz="2000" dirty="0"/>
              <a:t>Κάθε κίνηση του </a:t>
            </a:r>
            <a:r>
              <a:rPr lang="el-GR" dirty="0" err="1"/>
              <a:t>second_agent</a:t>
            </a:r>
            <a:r>
              <a:rPr lang="el-GR" sz="2000" dirty="0"/>
              <a:t> για να πάρει το κλειδί κόστισε </a:t>
            </a:r>
            <a:r>
              <a:rPr lang="el-GR" sz="2000" b="1" dirty="0"/>
              <a:t>-0.01</a:t>
            </a:r>
            <a:r>
              <a:rPr lang="el-GR" sz="2000" dirty="0"/>
              <a:t>.</a:t>
            </a:r>
          </a:p>
          <a:p>
            <a:r>
              <a:rPr lang="el-GR" sz="2000" dirty="0"/>
              <a:t>Αν και το αθροιστικό </a:t>
            </a:r>
            <a:r>
              <a:rPr lang="el-GR" sz="2000" dirty="0" err="1"/>
              <a:t>Utility</a:t>
            </a:r>
            <a:r>
              <a:rPr lang="el-GR" sz="2000" dirty="0"/>
              <a:t> παραμένει αρνητικό σε αυτή τη φάση, αυτά τα αρνητικά νούμερα είναι θετική ένδειξη, καθώς δηλώνουν ότι ο πράκτορας δαπανά πόρους για να φτάσει στην τελική ανταμοιβή των </a:t>
            </a:r>
            <a:r>
              <a:rPr lang="el-GR" sz="2000" b="1" dirty="0"/>
              <a:t>+0.8</a:t>
            </a:r>
            <a:r>
              <a:rPr lang="el-GR" sz="2000" dirty="0"/>
              <a:t> (Άνοιγμα Πόρτας).</a:t>
            </a:r>
          </a:p>
          <a:p>
            <a:endParaRPr lang="el-GR" sz="2000" dirty="0"/>
          </a:p>
          <a:p>
            <a:r>
              <a:rPr lang="el-GR" sz="2000" dirty="0"/>
              <a:t>Στους κύκλους </a:t>
            </a:r>
            <a:r>
              <a:rPr lang="el-GR" sz="2000" b="1" dirty="0"/>
              <a:t>200 έως 300</a:t>
            </a:r>
            <a:r>
              <a:rPr lang="el-GR" sz="2000" dirty="0"/>
              <a:t>, η εικόνα του </a:t>
            </a:r>
            <a:r>
              <a:rPr lang="el-GR" sz="2000" b="1" dirty="0" err="1"/>
              <a:t>utility</a:t>
            </a:r>
            <a:r>
              <a:rPr lang="el-GR" sz="2000" dirty="0"/>
              <a:t> παρουσιάζει μια έντονη αντίθεση μεταξύ του "σχεδιασμένου" και του "πραγματικού":</a:t>
            </a:r>
          </a:p>
          <a:p>
            <a:r>
              <a:rPr lang="el-GR" sz="2000" b="1" dirty="0"/>
              <a:t>1. Θεωρητικό </a:t>
            </a:r>
            <a:r>
              <a:rPr lang="el-GR" sz="2000" b="1" dirty="0" err="1"/>
              <a:t>Utility</a:t>
            </a:r>
            <a:r>
              <a:rPr lang="el-GR" sz="2000" b="1" dirty="0"/>
              <a:t>: Υψηλό</a:t>
            </a:r>
            <a:r>
              <a:rPr lang="el-GR" sz="2000" dirty="0"/>
              <a:t> Το σύστημα λειτουργεί σωστά σε επίπεδο σχεδιασμού. Οι πράκτορες έχουν κλειδώσει συμφωνίες για στόχους με πολύ υψηλές τιμές χρησιμότητας:</a:t>
            </a:r>
          </a:p>
          <a:p>
            <a:r>
              <a:rPr lang="el-GR" sz="2000" b="1" dirty="0" err="1"/>
              <a:t>Open</a:t>
            </a:r>
            <a:r>
              <a:rPr lang="el-GR" sz="2000" b="1" dirty="0"/>
              <a:t> </a:t>
            </a:r>
            <a:r>
              <a:rPr lang="el-GR" sz="2000" b="1" dirty="0" err="1"/>
              <a:t>Door</a:t>
            </a:r>
            <a:r>
              <a:rPr lang="el-GR" sz="2000" b="1" dirty="0"/>
              <a:t>:</a:t>
            </a:r>
            <a:r>
              <a:rPr lang="el-GR" sz="2000" dirty="0"/>
              <a:t> 99/100</a:t>
            </a:r>
          </a:p>
          <a:p>
            <a:r>
              <a:rPr lang="el-GR" sz="2000" b="1" dirty="0" err="1"/>
              <a:t>Paint</a:t>
            </a:r>
            <a:r>
              <a:rPr lang="el-GR" sz="2000" b="1" dirty="0"/>
              <a:t> </a:t>
            </a:r>
            <a:r>
              <a:rPr lang="el-GR" sz="2000" b="1" dirty="0" err="1"/>
              <a:t>Table</a:t>
            </a:r>
            <a:r>
              <a:rPr lang="el-GR" sz="2000" b="1" dirty="0"/>
              <a:t>:</a:t>
            </a:r>
            <a:r>
              <a:rPr lang="el-GR" sz="2000" dirty="0"/>
              <a:t> 97/100 Αυτό σημαίνει ότι η κατανομή των εργασιών είναι σχεδόν βέλτιστη. Αν όλα πήγαιναν καλά, το σύστημα θα έπρεπε να παράγει μέγιστη αξία.</a:t>
            </a:r>
          </a:p>
          <a:p>
            <a:r>
              <a:rPr lang="el-GR" sz="2000" b="1" dirty="0"/>
              <a:t>2. Πραγματικό </a:t>
            </a:r>
            <a:r>
              <a:rPr lang="el-GR" sz="2000" b="1" dirty="0" err="1"/>
              <a:t>Utility</a:t>
            </a:r>
            <a:r>
              <a:rPr lang="el-GR" sz="2000" b="1" dirty="0"/>
              <a:t>: Αρνητικό &amp; Μειούμενο: </a:t>
            </a:r>
            <a:r>
              <a:rPr lang="el-GR" sz="2000" dirty="0"/>
              <a:t>Ο </a:t>
            </a:r>
            <a:r>
              <a:rPr lang="el-GR" dirty="0" err="1"/>
              <a:t>second_agent</a:t>
            </a:r>
            <a:r>
              <a:rPr lang="el-GR" sz="2000" dirty="0"/>
              <a:t> προσπαθεί να εκτελέσει μια κίνηση που αποτυγχάνει (</a:t>
            </a:r>
            <a:r>
              <a:rPr lang="el-GR" dirty="0" err="1"/>
              <a:t>do</a:t>
            </a:r>
            <a:r>
              <a:rPr lang="el-GR" dirty="0"/>
              <a:t>(</a:t>
            </a:r>
            <a:r>
              <a:rPr lang="el-GR" dirty="0" err="1"/>
              <a:t>move</a:t>
            </a:r>
            <a:r>
              <a:rPr lang="el-GR" dirty="0"/>
              <a:t>(0,1)) -&gt; </a:t>
            </a:r>
            <a:r>
              <a:rPr lang="el-GR" dirty="0" err="1"/>
              <a:t>false</a:t>
            </a:r>
            <a:r>
              <a:rPr lang="el-GR" sz="2000" dirty="0"/>
              <a:t>). Κάθε αποτυχημένη προσπάθεια χρεώνεται με </a:t>
            </a:r>
            <a:r>
              <a:rPr lang="el-GR" sz="2000" b="1" dirty="0"/>
              <a:t>-0.01</a:t>
            </a:r>
            <a:r>
              <a:rPr lang="el-GR" sz="2000" dirty="0"/>
              <a:t>.</a:t>
            </a:r>
          </a:p>
          <a:p>
            <a:r>
              <a:rPr lang="el-GR" sz="2000" dirty="0"/>
              <a:t>Σε αυτούς τους 100 κύκλους, αντί να κερδίσουμε πόντους, </a:t>
            </a:r>
            <a:r>
              <a:rPr lang="el-GR" sz="2000" b="1" dirty="0"/>
              <a:t>ξοδεύουμε συνεχώς ενέργεια</a:t>
            </a:r>
            <a:r>
              <a:rPr lang="el-GR" sz="2000" dirty="0"/>
              <a:t> χωρίς αποτέλεσμα.</a:t>
            </a:r>
          </a:p>
          <a:p>
            <a:r>
              <a:rPr lang="el-GR" sz="2000" dirty="0"/>
              <a:t>Ο </a:t>
            </a:r>
            <a:r>
              <a:rPr lang="el-GR" dirty="0" err="1"/>
              <a:t>main_agent</a:t>
            </a:r>
            <a:r>
              <a:rPr lang="el-GR" sz="2000" dirty="0"/>
              <a:t> έχει </a:t>
            </a:r>
            <a:r>
              <a:rPr lang="el-GR" sz="2000" b="1" dirty="0"/>
              <a:t>μηδενική συνεισφορά</a:t>
            </a:r>
            <a:r>
              <a:rPr lang="el-GR" sz="2000" dirty="0"/>
              <a:t>. Το δικό του </a:t>
            </a:r>
            <a:r>
              <a:rPr lang="el-GR" sz="2000" dirty="0" err="1"/>
              <a:t>utility</a:t>
            </a:r>
            <a:r>
              <a:rPr lang="el-GR" sz="2000" dirty="0"/>
              <a:t> είναι στάσιμο, καθώς περιμένει.</a:t>
            </a:r>
          </a:p>
          <a:p>
            <a:r>
              <a:rPr lang="el-GR" sz="2000" b="1" dirty="0"/>
              <a:t>Συμπέρασμα:</a:t>
            </a:r>
            <a:r>
              <a:rPr lang="el-GR" sz="2000" dirty="0"/>
              <a:t> Ενώ η αξία των στόχων είναι υψηλή (99 &amp; 97), το </a:t>
            </a:r>
            <a:r>
              <a:rPr lang="el-GR" sz="2000" b="1" dirty="0"/>
              <a:t>καθαρό κέρδος</a:t>
            </a:r>
            <a:r>
              <a:rPr lang="el-GR" sz="2000" dirty="0"/>
              <a:t> της περιόδου είναι αρνητικό. Το σύστημα πληρώνει το κόστος της φυσικής εμπλοκής των εμποδίων χωρίς να εισπράττει την αμοιβή του στόχου.</a:t>
            </a:r>
          </a:p>
          <a:p>
            <a:endParaRPr lang="el-GR" sz="2000" dirty="0"/>
          </a:p>
        </p:txBody>
      </p:sp>
    </p:spTree>
    <p:extLst>
      <p:ext uri="{BB962C8B-B14F-4D97-AF65-F5344CB8AC3E}">
        <p14:creationId xmlns:p14="http://schemas.microsoft.com/office/powerpoint/2010/main" val="165295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D2BA8F-12DA-81F5-C97C-C71F00A8403B}"/>
              </a:ext>
            </a:extLst>
          </p:cNvPr>
          <p:cNvSpPr txBox="1"/>
          <p:nvPr/>
        </p:nvSpPr>
        <p:spPr>
          <a:xfrm>
            <a:off x="533400" y="495300"/>
            <a:ext cx="172212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1" dirty="0">
                <a:solidFill>
                  <a:schemeClr val="accent1"/>
                </a:solidFill>
              </a:rPr>
              <a:t>Συνολική επισκόπηση για 1000 κύκλους και εξαγωγή συμπερασμάτων</a:t>
            </a:r>
          </a:p>
          <a:p>
            <a:endParaRPr lang="el-GR" sz="2000" dirty="0"/>
          </a:p>
          <a:p>
            <a:r>
              <a:rPr lang="el-GR" sz="2000" b="1" dirty="0"/>
              <a:t>Πρώιμη Φάση (0-200):</a:t>
            </a:r>
            <a:r>
              <a:rPr lang="el-GR" sz="2000" dirty="0"/>
              <a:t> Επίπεδη/Αρνητική. Το σύστημα πληρώνει κόστη διαπραγμάτευσης και κόστη εμποδίων/κινήσεων χωρίς άμεση απόδοση.</a:t>
            </a:r>
          </a:p>
          <a:p>
            <a:endParaRPr lang="el-GR" sz="2000" dirty="0"/>
          </a:p>
          <a:p>
            <a:r>
              <a:rPr lang="el-GR" sz="2000" b="1" dirty="0"/>
              <a:t>Μεσαία Φάση (200-1000):</a:t>
            </a:r>
            <a:r>
              <a:rPr lang="el-GR" sz="2000" dirty="0"/>
              <a:t> Βαθαίνει αρνητικά. Καθώς οι πράκτορες κινούνται φυσικά στο πλέγμα για να συλλέξουν αντικείμενα (Κλειδί, Κωδικός), η συσσωρευμένη ποινή βημάτων (-0.01) αυξάνεται.</a:t>
            </a:r>
          </a:p>
          <a:p>
            <a:endParaRPr lang="el-GR" sz="2000" dirty="0"/>
          </a:p>
          <a:p>
            <a:r>
              <a:rPr lang="el-GR" sz="2000" b="1" dirty="0"/>
              <a:t>Ύστερη Φάση (&gt;1000):</a:t>
            </a:r>
            <a:r>
              <a:rPr lang="el-GR" sz="2000" dirty="0"/>
              <a:t> Απότομη Θετική Άνοδος. Μόλις ο </a:t>
            </a:r>
            <a:r>
              <a:rPr lang="el-GR" sz="2000" dirty="0" err="1"/>
              <a:t>second_agent</a:t>
            </a:r>
            <a:r>
              <a:rPr lang="el-GR" sz="2000" dirty="0"/>
              <a:t> πάρει τον κωδικό  και ανοίξει την πόρτα, η ανταμοιβή </a:t>
            </a:r>
            <a:r>
              <a:rPr lang="el-GR" sz="2000" b="1" dirty="0"/>
              <a:t>+0.8</a:t>
            </a:r>
            <a:r>
              <a:rPr lang="el-GR" sz="2000" dirty="0"/>
              <a:t> θα αντισταθμίσει</a:t>
            </a:r>
            <a:r>
              <a:rPr lang="el-GR" dirty="0"/>
              <a:t> ακαριαία το κόστος 80 κύκλων κίνησης.</a:t>
            </a:r>
          </a:p>
          <a:p>
            <a:endParaRPr lang="el-GR" dirty="0"/>
          </a:p>
          <a:p>
            <a:r>
              <a:rPr lang="el-GR" sz="2400" b="1" dirty="0"/>
              <a:t>Εντοπισμός </a:t>
            </a:r>
            <a:r>
              <a:rPr lang="el-GR" sz="2400" b="1" dirty="0" err="1"/>
              <a:t>Bottlenecks</a:t>
            </a:r>
            <a:endParaRPr lang="el-GR" sz="2400" b="1" dirty="0"/>
          </a:p>
          <a:p>
            <a:endParaRPr lang="el-GR" sz="2400" dirty="0"/>
          </a:p>
          <a:p>
            <a:r>
              <a:rPr lang="el-GR" sz="2000" b="1" dirty="0"/>
              <a:t>Κόστος Διαπραγμάτευσης:</a:t>
            </a:r>
            <a:r>
              <a:rPr lang="el-GR" sz="2000" dirty="0"/>
              <a:t> Οι πρώτοι 100 κύκλοι </a:t>
            </a:r>
            <a:r>
              <a:rPr lang="el-GR" sz="2000" dirty="0" err="1"/>
              <a:t>δαπανήθηκσν</a:t>
            </a:r>
            <a:r>
              <a:rPr lang="el-GR" sz="2000" dirty="0"/>
              <a:t> στη διαπραγμάτευση.</a:t>
            </a:r>
          </a:p>
          <a:p>
            <a:endParaRPr lang="el-GR" sz="2000" dirty="0"/>
          </a:p>
          <a:p>
            <a:r>
              <a:rPr lang="el-GR" sz="2000" b="1" dirty="0"/>
              <a:t>Φυσική Τριβή:</a:t>
            </a:r>
            <a:r>
              <a:rPr lang="el-GR" sz="2000" dirty="0"/>
              <a:t> Τα επαναλαμβανόμενα αποτελέσματα </a:t>
            </a:r>
            <a:r>
              <a:rPr lang="el-GR" sz="2000" dirty="0" err="1"/>
              <a:t>false</a:t>
            </a:r>
            <a:r>
              <a:rPr lang="el-GR" sz="2000" dirty="0"/>
              <a:t> στις ενέργειες </a:t>
            </a:r>
            <a:r>
              <a:rPr lang="el-GR" sz="2000" dirty="0" err="1"/>
              <a:t>move</a:t>
            </a:r>
            <a:r>
              <a:rPr lang="el-GR" sz="2000" dirty="0"/>
              <a:t> και </a:t>
            </a:r>
            <a:r>
              <a:rPr lang="el-GR" sz="2000" dirty="0" err="1"/>
              <a:t>pick</a:t>
            </a:r>
            <a:r>
              <a:rPr lang="el-GR" sz="2000" dirty="0"/>
              <a:t> υποδηλώνουν ότι η δυναμική φύση του περιβάλλοντος (αντικείμενα που κινούνται κάθε 3 βήματα) προκάλεσε στους πράκτορες να χάνουν τους στόχους, απαιτώντας πολλαπλές προσπάθειες για μία επιτυχημένη ενέργεια. Αυτό διόγκωσε το κόστος της συνάρτησης </a:t>
            </a:r>
            <a:r>
              <a:rPr lang="el-GR" sz="2000" dirty="0" err="1"/>
              <a:t>utility</a:t>
            </a:r>
            <a:r>
              <a:rPr lang="el-GR" sz="2000" dirty="0"/>
              <a:t>.</a:t>
            </a:r>
          </a:p>
          <a:p>
            <a:endParaRPr lang="el-GR" sz="2000" dirty="0"/>
          </a:p>
          <a:p>
            <a:r>
              <a:rPr lang="el-GR" sz="2000" b="1" dirty="0"/>
              <a:t>Συμπέρασμα:</a:t>
            </a:r>
            <a:r>
              <a:rPr lang="el-GR" sz="2000" dirty="0"/>
              <a:t> Οι πράκτορες είναι λειτουργικά επιτυχημένοι (εντόπισαν σωστά τους στόχους, διαπραγματεύτηκαν τους βέλτιστους ιδιοκτήτες και συγκέντρωσαν πόρους), αλλά </a:t>
            </a:r>
            <a:r>
              <a:rPr lang="el-GR" sz="2000" b="1" dirty="0"/>
              <a:t>χρονικά αναποτελεσματικοί</a:t>
            </a:r>
            <a:r>
              <a:rPr lang="el-GR" sz="2000" dirty="0"/>
              <a:t>. Η λογική είναι σωστή, αλλά ο χρόνος αντίδρασης στα δυναμικά αντικείμενα χρειάζεται βελτίωση για να αυξηθεί το σκορ του </a:t>
            </a:r>
            <a:r>
              <a:rPr lang="el-GR" sz="2000" dirty="0" err="1"/>
              <a:t>utility</a:t>
            </a:r>
            <a:r>
              <a:rPr lang="el-G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852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5550" r="-5550"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Εnvironment Overview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4816475"/>
            <a:ext cx="6886575" cy="480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2F59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agent always starts at position (1,1).</a:t>
            </a:r>
          </a:p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2F59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implemented three control buttons: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2F59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Start Experiment: runs the agent for 100 episodes and computes the average utility.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2F59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Reset: resets the environment to its initial state and then randomizes the positions of the door, chair, and table.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2F597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Run One Episode: executes a single episode, allowing us to observe the agent’s behavior step by step.</a:t>
            </a:r>
          </a:p>
          <a:p>
            <a:pPr marL="0" lvl="0" indent="0" algn="l">
              <a:lnSpc>
                <a:spcPts val="3499"/>
              </a:lnSpc>
            </a:pPr>
            <a:endParaRPr lang="en-US" sz="2499" spc="-37">
              <a:solidFill>
                <a:srgbClr val="2F5972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BD0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0225" y="1562100"/>
            <a:ext cx="12944475" cy="6134184"/>
            <a:chOff x="0" y="0"/>
            <a:chExt cx="17259300" cy="8178912"/>
          </a:xfrm>
        </p:grpSpPr>
        <p:sp>
          <p:nvSpPr>
            <p:cNvPr id="6" name="TextBox 6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F5972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What worked &amp; what had issues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87687"/>
              <a:ext cx="17259300" cy="599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What worked</a:t>
              </a:r>
            </a:p>
            <a:p>
              <a:pPr marL="453395" lvl="1" indent="-226697" algn="l">
                <a:lnSpc>
                  <a:spcPts val="2520"/>
                </a:lnSpc>
                <a:buFont typeface="Arial"/>
                <a:buChar char="•"/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grid environment and object representation were implemented (agent start at (1,1), walls, objects).</a:t>
              </a:r>
            </a:p>
            <a:p>
              <a:pPr marL="453395" lvl="1" indent="-226697" algn="l">
                <a:lnSpc>
                  <a:spcPts val="2520"/>
                </a:lnSpc>
                <a:buFont typeface="Arial"/>
                <a:buChar char="•"/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Core agent actions were implemented at the logic level (movement, picking required items, attempting paint/open).</a:t>
              </a:r>
            </a:p>
            <a:p>
              <a:pPr marL="453395" lvl="1" indent="-226697" algn="l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A* planner successfully produced a valid path as a list of moves for navigation.</a:t>
              </a:r>
            </a:p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Issues / bugs encountered</a:t>
              </a:r>
            </a:p>
            <a:p>
              <a:pPr marL="453395" lvl="1" indent="-226697" algn="l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agent often appeared “stuck” because of synchronization/communication issues with the graphical interface (the internal state and the visual state were not always aligned).</a:t>
              </a:r>
            </a:p>
            <a:p>
              <a:pPr marL="453395" lvl="1" indent="-226697" algn="l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Some planned actions were computed correctly but were not executed/visualized reliably step-by-step.</a:t>
              </a:r>
            </a:p>
            <a:p>
              <a:pPr marL="453395" lvl="1" indent="-226697" algn="l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b="1" spc="-31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As a result, we could not run stable 100-episode experiments to report trustworthy averages.</a:t>
              </a:r>
            </a:p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endParaRPr lang="en-US" sz="2100" b="1" spc="-3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BD0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0225" y="1562100"/>
            <a:ext cx="12944475" cy="8610684"/>
            <a:chOff x="0" y="0"/>
            <a:chExt cx="17259300" cy="11480912"/>
          </a:xfrm>
        </p:grpSpPr>
        <p:sp>
          <p:nvSpPr>
            <p:cNvPr id="6" name="TextBox 6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F5972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Future improvements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87687"/>
              <a:ext cx="7979828" cy="9293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2400" b="1" spc="-36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Stability &amp; debugging</a:t>
              </a:r>
            </a:p>
            <a:p>
              <a:pPr marL="518163" lvl="1" indent="-259082" algn="l">
                <a:lnSpc>
                  <a:spcPts val="28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b="1" spc="-36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Fix the GUI–environment synchronization so every action update is reflected consistently in the grid view.</a:t>
              </a:r>
            </a:p>
            <a:p>
              <a:pPr marL="474984" lvl="1" indent="-237492" algn="l">
                <a:lnSpc>
                  <a:spcPts val="26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00" b="1" spc="-33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Add stronger logging/telemetry (state before/after each action, percept updates, and action acknowledgements).</a:t>
              </a:r>
            </a:p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 b="1" spc="-36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Navigation &amp; planning</a:t>
              </a:r>
            </a:p>
            <a:p>
              <a:pPr marL="518163" lvl="1" indent="-259082" algn="l">
                <a:lnSpc>
                  <a:spcPts val="28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b="1" spc="-36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Connect the returned A* path to reliable action execution (validate each step, handle blocked moves, replan if needed).</a:t>
              </a:r>
            </a:p>
            <a:p>
              <a:pPr marL="518163" lvl="1" indent="-259082" algn="l">
                <a:lnSpc>
                  <a:spcPts val="28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b="1" spc="-36">
                  <a:solidFill>
                    <a:srgbClr val="2F597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Add fail-safe handling (timeouts, max steps per episode, and clear failure states).</a:t>
              </a:r>
            </a:p>
            <a:p>
              <a:pPr algn="l">
                <a:lnSpc>
                  <a:spcPts val="2880"/>
                </a:lnSpc>
                <a:spcBef>
                  <a:spcPct val="0"/>
                </a:spcBef>
              </a:pPr>
              <a:endParaRPr lang="en-US" sz="2400" b="1" spc="-36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endParaRPr lang="en-US" sz="2400" b="1" spc="-36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Box 9"/>
          <p:cNvSpPr txBox="1"/>
          <p:nvPr/>
        </p:nvSpPr>
        <p:spPr>
          <a:xfrm>
            <a:off x="8272463" y="2794552"/>
            <a:ext cx="6137822" cy="682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Environment &amp; tasks</a:t>
            </a:r>
          </a:p>
          <a:p>
            <a:pPr marL="436312" lvl="1" indent="-218156" algn="ctr">
              <a:lnSpc>
                <a:spcPts val="2829"/>
              </a:lnSpc>
              <a:spcBef>
                <a:spcPct val="0"/>
              </a:spcBef>
              <a:buFont typeface="Arial"/>
              <a:buChar char="•"/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Complete clean reset + controlled randomization of objects (D, Ch, T) and ensure percepts update correctly.</a:t>
            </a:r>
          </a:p>
          <a:p>
            <a:pPr marL="436312" lvl="1" indent="-218156" algn="ctr">
              <a:lnSpc>
                <a:spcPts val="2829"/>
              </a:lnSpc>
              <a:spcBef>
                <a:spcPct val="0"/>
              </a:spcBef>
              <a:buFont typeface="Arial"/>
              <a:buChar char="•"/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Enforce carrying constraints and add missing interactions if needed (e.g., drop).</a:t>
            </a:r>
          </a:p>
          <a:p>
            <a:pPr algn="ctr">
              <a:lnSpc>
                <a:spcPts val="2829"/>
              </a:lnSpc>
              <a:spcBef>
                <a:spcPct val="0"/>
              </a:spcBef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Multi-agent extension</a:t>
            </a:r>
          </a:p>
          <a:p>
            <a:pPr marL="436312" lvl="1" indent="-218156" algn="ctr">
              <a:lnSpc>
                <a:spcPts val="2829"/>
              </a:lnSpc>
              <a:spcBef>
                <a:spcPct val="0"/>
              </a:spcBef>
              <a:buFont typeface="Arial"/>
              <a:buChar char="•"/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Introduce 2+ agents in the same grid with:</a:t>
            </a:r>
          </a:p>
          <a:p>
            <a:pPr marL="872624" lvl="2" indent="-290875" algn="ctr">
              <a:lnSpc>
                <a:spcPts val="2829"/>
              </a:lnSpc>
              <a:spcBef>
                <a:spcPct val="0"/>
              </a:spcBef>
              <a:buFont typeface="Arial"/>
              <a:buChar char="⚬"/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coordination (task allocation: one agent collects items while another navigates to goals),</a:t>
            </a:r>
          </a:p>
          <a:p>
            <a:pPr marL="872624" lvl="2" indent="-290875" algn="ctr">
              <a:lnSpc>
                <a:spcPts val="2829"/>
              </a:lnSpc>
              <a:spcBef>
                <a:spcPct val="0"/>
              </a:spcBef>
              <a:buFont typeface="Arial"/>
              <a:buChar char="⚬"/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communication (sharing beliefs/percepts: “I found the key at (x,y)”),</a:t>
            </a:r>
          </a:p>
          <a:p>
            <a:pPr marL="872624" lvl="2" indent="-290875" algn="ctr">
              <a:lnSpc>
                <a:spcPts val="2829"/>
              </a:lnSpc>
              <a:spcBef>
                <a:spcPct val="0"/>
              </a:spcBef>
              <a:buFont typeface="Arial"/>
              <a:buChar char="⚬"/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conflict resolution (collision avoidance, resource contention),</a:t>
            </a:r>
          </a:p>
          <a:p>
            <a:pPr marL="872624" lvl="2" indent="-290875" algn="ctr">
              <a:lnSpc>
                <a:spcPts val="2829"/>
              </a:lnSpc>
              <a:spcBef>
                <a:spcPct val="0"/>
              </a:spcBef>
              <a:buFont typeface="Arial"/>
              <a:buChar char="⚬"/>
            </a:pPr>
            <a:r>
              <a:rPr lang="en-US" sz="2020" b="1">
                <a:solidFill>
                  <a:srgbClr val="2F59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collaborative goals (e.g., one opens the door while the other paints furniture).</a:t>
            </a:r>
          </a:p>
          <a:p>
            <a:pPr algn="ctr">
              <a:lnSpc>
                <a:spcPts val="2829"/>
              </a:lnSpc>
              <a:spcBef>
                <a:spcPct val="0"/>
              </a:spcBef>
            </a:pPr>
            <a:endParaRPr lang="en-US" sz="2020" b="1">
              <a:solidFill>
                <a:srgbClr val="2F5972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F597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03759" y="942975"/>
            <a:ext cx="8317491" cy="389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2F597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Thanks For Watching </a:t>
            </a:r>
          </a:p>
        </p:txBody>
      </p:sp>
      <p:sp>
        <p:nvSpPr>
          <p:cNvPr id="7" name="Freeform 7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Ιόν">
  <a:themeElements>
    <a:clrScheme name="Ιό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Ιό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Ιό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</TotalTime>
  <Words>1437</Words>
  <Application>Microsoft Office PowerPoint</Application>
  <PresentationFormat>Προσαρμογή</PresentationFormat>
  <Paragraphs>122</Paragraphs>
  <Slides>12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12</vt:i4>
      </vt:variant>
    </vt:vector>
  </HeadingPairs>
  <TitlesOfParts>
    <vt:vector size="19" baseType="lpstr">
      <vt:lpstr>Georgia Pro Condensed</vt:lpstr>
      <vt:lpstr>Century Gothic</vt:lpstr>
      <vt:lpstr>Wingdings 3</vt:lpstr>
      <vt:lpstr>Helvetica World</vt:lpstr>
      <vt:lpstr>Helvetica World Bold</vt:lpstr>
      <vt:lpstr>Arial</vt:lpstr>
      <vt:lpstr>Ιόν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Jason Agentic World Project</dc:title>
  <cp:lastModifiedBy>George Azam</cp:lastModifiedBy>
  <cp:revision>2</cp:revision>
  <dcterms:created xsi:type="dcterms:W3CDTF">2006-08-16T00:00:00Z</dcterms:created>
  <dcterms:modified xsi:type="dcterms:W3CDTF">2026-02-05T20:22:19Z</dcterms:modified>
  <dc:identifier>DAG5pzYd4bw</dc:identifier>
</cp:coreProperties>
</file>